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1" r:id="rId8"/>
    <p:sldId id="262"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2" r:id="rId25"/>
    <p:sldId id="284" r:id="rId26"/>
    <p:sldId id="286" r:id="rId27"/>
    <p:sldId id="287" r:id="rId28"/>
    <p:sldId id="289" r:id="rId29"/>
    <p:sldId id="290" r:id="rId30"/>
    <p:sldId id="291" r:id="rId31"/>
    <p:sldId id="293" r:id="rId32"/>
    <p:sldId id="294" r:id="rId33"/>
    <p:sldId id="295" r:id="rId34"/>
    <p:sldId id="29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232BC1-A6A9-4D50-B02C-946188CA52E0}"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4190161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F232BC1-A6A9-4D50-B02C-946188CA52E0}"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26817694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232BC1-A6A9-4D50-B02C-946188CA52E0}"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73897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F232BC1-A6A9-4D50-B02C-946188CA52E0}"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1834355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F232BC1-A6A9-4D50-B02C-946188CA52E0}" type="datetimeFigureOut">
              <a:rPr lang="en-IN" smtClean="0"/>
              <a:t>02-08-2026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1367422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F232BC1-A6A9-4D50-B02C-946188CA52E0}" type="datetimeFigureOut">
              <a:rPr lang="en-IN" smtClean="0"/>
              <a:t>02-08-2026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3944204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232BC1-A6A9-4D50-B02C-946188CA52E0}" type="datetimeFigureOut">
              <a:rPr lang="en-IN" smtClean="0"/>
              <a:t>02-08-2026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636196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232BC1-A6A9-4D50-B02C-946188CA52E0}"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1148251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232BC1-A6A9-4D50-B02C-946188CA52E0}"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10914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F232BC1-A6A9-4D50-B02C-946188CA52E0}"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579999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F232BC1-A6A9-4D50-B02C-946188CA52E0}"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1EBE1E-FEAB-4BDA-B51E-F53B7AFEB54C}" type="slidenum">
              <a:rPr lang="en-IN" smtClean="0"/>
              <a:t>‹#›</a:t>
            </a:fld>
            <a:endParaRPr lang="en-IN"/>
          </a:p>
        </p:txBody>
      </p:sp>
    </p:spTree>
    <p:extLst>
      <p:ext uri="{BB962C8B-B14F-4D97-AF65-F5344CB8AC3E}">
        <p14:creationId xmlns:p14="http://schemas.microsoft.com/office/powerpoint/2010/main" val="2496769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232BC1-A6A9-4D50-B02C-946188CA52E0}" type="datetimeFigureOut">
              <a:rPr lang="en-IN" smtClean="0"/>
              <a:t>02-08-2026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EBE1E-FEAB-4BDA-B51E-F53B7AFEB54C}" type="slidenum">
              <a:rPr lang="en-IN" smtClean="0"/>
              <a:t>‹#›</a:t>
            </a:fld>
            <a:endParaRPr lang="en-IN"/>
          </a:p>
        </p:txBody>
      </p:sp>
    </p:spTree>
    <p:extLst>
      <p:ext uri="{BB962C8B-B14F-4D97-AF65-F5344CB8AC3E}">
        <p14:creationId xmlns:p14="http://schemas.microsoft.com/office/powerpoint/2010/main" val="2993586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solidFill>
                  <a:srgbClr val="FF0000"/>
                </a:solidFill>
              </a:rPr>
              <a:t>CONSERVATION OF TRADITIONAL WATER SOURCES OF KERALA</a:t>
            </a:r>
            <a:r>
              <a:rPr lang="en-IN" b="1" dirty="0">
                <a:solidFill>
                  <a:srgbClr val="FF0000"/>
                </a:solidFill>
              </a:rPr>
              <a:t/>
            </a:r>
            <a:br>
              <a:rPr lang="en-IN" b="1" dirty="0">
                <a:solidFill>
                  <a:srgbClr val="FF0000"/>
                </a:solidFill>
              </a:rPr>
            </a:br>
            <a:endParaRPr lang="en-IN" b="1" dirty="0">
              <a:solidFill>
                <a:srgbClr val="FF0000"/>
              </a:solidFill>
            </a:endParaRPr>
          </a:p>
        </p:txBody>
      </p:sp>
      <p:sp>
        <p:nvSpPr>
          <p:cNvPr id="3" name="Subtitle 2"/>
          <p:cNvSpPr>
            <a:spLocks noGrp="1"/>
          </p:cNvSpPr>
          <p:nvPr>
            <p:ph type="subTitle" idx="1"/>
          </p:nvPr>
        </p:nvSpPr>
        <p:spPr/>
        <p:txBody>
          <a:bodyPr>
            <a:normAutofit fontScale="77500" lnSpcReduction="20000"/>
          </a:bodyPr>
          <a:lstStyle/>
          <a:p>
            <a:r>
              <a:rPr lang="en-US" b="1" dirty="0">
                <a:solidFill>
                  <a:srgbClr val="002060"/>
                </a:solidFill>
              </a:rPr>
              <a:t>Prof. M.G. </a:t>
            </a:r>
            <a:r>
              <a:rPr lang="en-US" b="1" dirty="0" err="1">
                <a:solidFill>
                  <a:srgbClr val="002060"/>
                </a:solidFill>
              </a:rPr>
              <a:t>Cyriac</a:t>
            </a:r>
            <a:r>
              <a:rPr lang="en-US" b="1" dirty="0">
                <a:solidFill>
                  <a:srgbClr val="002060"/>
                </a:solidFill>
              </a:rPr>
              <a:t>, Prof. S. </a:t>
            </a:r>
            <a:r>
              <a:rPr lang="en-US" b="1" dirty="0" err="1">
                <a:solidFill>
                  <a:srgbClr val="002060"/>
                </a:solidFill>
              </a:rPr>
              <a:t>Rathish</a:t>
            </a:r>
            <a:r>
              <a:rPr lang="en-US" b="1" dirty="0">
                <a:solidFill>
                  <a:srgbClr val="002060"/>
                </a:solidFill>
              </a:rPr>
              <a:t>, Prof. </a:t>
            </a:r>
            <a:r>
              <a:rPr lang="en-US" b="1" dirty="0" err="1">
                <a:solidFill>
                  <a:srgbClr val="002060"/>
                </a:solidFill>
              </a:rPr>
              <a:t>Neeraja</a:t>
            </a:r>
            <a:r>
              <a:rPr lang="en-US" b="1" dirty="0">
                <a:solidFill>
                  <a:srgbClr val="002060"/>
                </a:solidFill>
              </a:rPr>
              <a:t> P.G &amp; Prof. </a:t>
            </a:r>
            <a:r>
              <a:rPr lang="en-US" b="1" dirty="0" err="1">
                <a:solidFill>
                  <a:srgbClr val="002060"/>
                </a:solidFill>
              </a:rPr>
              <a:t>Anju</a:t>
            </a:r>
            <a:r>
              <a:rPr lang="en-US" b="1" dirty="0">
                <a:solidFill>
                  <a:srgbClr val="002060"/>
                </a:solidFill>
              </a:rPr>
              <a:t> M.J</a:t>
            </a:r>
            <a:endParaRPr lang="en-IN" dirty="0">
              <a:solidFill>
                <a:srgbClr val="002060"/>
              </a:solidFill>
            </a:endParaRPr>
          </a:p>
          <a:p>
            <a:r>
              <a:rPr lang="en-US" dirty="0">
                <a:solidFill>
                  <a:srgbClr val="002060"/>
                </a:solidFill>
              </a:rPr>
              <a:t>(Faculty in Civil </a:t>
            </a:r>
            <a:r>
              <a:rPr lang="en-US" dirty="0" err="1">
                <a:solidFill>
                  <a:srgbClr val="002060"/>
                </a:solidFill>
              </a:rPr>
              <a:t>Engg</a:t>
            </a:r>
            <a:r>
              <a:rPr lang="en-US" dirty="0">
                <a:solidFill>
                  <a:srgbClr val="002060"/>
                </a:solidFill>
              </a:rPr>
              <a:t>. Dept., </a:t>
            </a:r>
            <a:r>
              <a:rPr lang="en-US" dirty="0" err="1">
                <a:solidFill>
                  <a:srgbClr val="002060"/>
                </a:solidFill>
              </a:rPr>
              <a:t>Jyothi</a:t>
            </a:r>
            <a:r>
              <a:rPr lang="en-US" dirty="0">
                <a:solidFill>
                  <a:srgbClr val="002060"/>
                </a:solidFill>
              </a:rPr>
              <a:t> Engineering College, </a:t>
            </a:r>
            <a:r>
              <a:rPr lang="en-US" dirty="0" err="1">
                <a:solidFill>
                  <a:srgbClr val="002060"/>
                </a:solidFill>
              </a:rPr>
              <a:t>Cheruthuruthy</a:t>
            </a:r>
            <a:r>
              <a:rPr lang="en-US" dirty="0">
                <a:solidFill>
                  <a:srgbClr val="002060"/>
                </a:solidFill>
              </a:rPr>
              <a:t>, </a:t>
            </a:r>
            <a:r>
              <a:rPr lang="en-US" dirty="0" err="1">
                <a:solidFill>
                  <a:srgbClr val="002060"/>
                </a:solidFill>
              </a:rPr>
              <a:t>Thrissur</a:t>
            </a:r>
            <a:r>
              <a:rPr lang="en-US" b="1" dirty="0">
                <a:solidFill>
                  <a:srgbClr val="002060"/>
                </a:solidFill>
              </a:rPr>
              <a:t>)</a:t>
            </a:r>
            <a:endParaRPr lang="en-IN" dirty="0">
              <a:solidFill>
                <a:srgbClr val="002060"/>
              </a:solidFill>
            </a:endParaRPr>
          </a:p>
          <a:p>
            <a:endParaRPr lang="en-IN" dirty="0">
              <a:solidFill>
                <a:srgbClr val="002060"/>
              </a:solidFill>
            </a:endParaRPr>
          </a:p>
        </p:txBody>
      </p:sp>
    </p:spTree>
    <p:extLst>
      <p:ext uri="{BB962C8B-B14F-4D97-AF65-F5344CB8AC3E}">
        <p14:creationId xmlns:p14="http://schemas.microsoft.com/office/powerpoint/2010/main" val="28968341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Main Focus </a:t>
            </a:r>
          </a:p>
        </p:txBody>
      </p:sp>
      <p:sp>
        <p:nvSpPr>
          <p:cNvPr id="3" name="Content Placeholder 2"/>
          <p:cNvSpPr>
            <a:spLocks noGrp="1"/>
          </p:cNvSpPr>
          <p:nvPr>
            <p:ph idx="1"/>
          </p:nvPr>
        </p:nvSpPr>
        <p:spPr/>
        <p:txBody>
          <a:bodyPr/>
          <a:lstStyle/>
          <a:p>
            <a:r>
              <a:rPr lang="en-IN" dirty="0"/>
              <a:t>Maintenance and up keep  of wells </a:t>
            </a:r>
          </a:p>
          <a:p>
            <a:r>
              <a:rPr lang="en-IN" dirty="0"/>
              <a:t>Environmental planning of house and the surroundings</a:t>
            </a:r>
          </a:p>
          <a:p>
            <a:r>
              <a:rPr lang="en-IN" dirty="0"/>
              <a:t>Different zones in the state  in respect of water pollution potential and remedies </a:t>
            </a:r>
          </a:p>
          <a:p>
            <a:r>
              <a:rPr lang="en-IN" dirty="0"/>
              <a:t>Water treatment options under different conditions </a:t>
            </a:r>
          </a:p>
          <a:p>
            <a:r>
              <a:rPr lang="en-IN" dirty="0"/>
              <a:t>Up keep of water sources  against pollution </a:t>
            </a:r>
          </a:p>
          <a:p>
            <a:endParaRPr lang="en-IN" dirty="0"/>
          </a:p>
          <a:p>
            <a:endParaRPr lang="en-IN" dirty="0"/>
          </a:p>
          <a:p>
            <a:endParaRPr lang="en-IN" dirty="0"/>
          </a:p>
        </p:txBody>
      </p:sp>
    </p:spTree>
    <p:extLst>
      <p:ext uri="{BB962C8B-B14F-4D97-AF65-F5344CB8AC3E}">
        <p14:creationId xmlns:p14="http://schemas.microsoft.com/office/powerpoint/2010/main" val="1550931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Conservation </a:t>
            </a:r>
          </a:p>
        </p:txBody>
      </p:sp>
      <p:sp>
        <p:nvSpPr>
          <p:cNvPr id="3" name="Content Placeholder 2"/>
          <p:cNvSpPr>
            <a:spLocks noGrp="1"/>
          </p:cNvSpPr>
          <p:nvPr>
            <p:ph idx="1"/>
          </p:nvPr>
        </p:nvSpPr>
        <p:spPr/>
        <p:txBody>
          <a:bodyPr/>
          <a:lstStyle/>
          <a:p>
            <a:r>
              <a:rPr lang="en-IN" dirty="0"/>
              <a:t>Up keep the usefulness of the sources by all means </a:t>
            </a:r>
          </a:p>
          <a:p>
            <a:r>
              <a:rPr lang="en-IN" dirty="0"/>
              <a:t>Protection of water sources against pollution </a:t>
            </a:r>
          </a:p>
          <a:p>
            <a:r>
              <a:rPr lang="en-IN" dirty="0"/>
              <a:t>Augmentation to ensure source quantity sustainability </a:t>
            </a:r>
          </a:p>
          <a:p>
            <a:r>
              <a:rPr lang="en-IN" dirty="0"/>
              <a:t>Treatment  to restore quality , if it is polluted </a:t>
            </a:r>
          </a:p>
        </p:txBody>
      </p:sp>
    </p:spTree>
    <p:extLst>
      <p:ext uri="{BB962C8B-B14F-4D97-AF65-F5344CB8AC3E}">
        <p14:creationId xmlns:p14="http://schemas.microsoft.com/office/powerpoint/2010/main" val="20461278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Traditional water sources </a:t>
            </a:r>
          </a:p>
        </p:txBody>
      </p:sp>
      <p:sp>
        <p:nvSpPr>
          <p:cNvPr id="3" name="Content Placeholder 2"/>
          <p:cNvSpPr>
            <a:spLocks noGrp="1"/>
          </p:cNvSpPr>
          <p:nvPr>
            <p:ph idx="1"/>
          </p:nvPr>
        </p:nvSpPr>
        <p:spPr/>
        <p:txBody>
          <a:bodyPr/>
          <a:lstStyle/>
          <a:p>
            <a:r>
              <a:rPr lang="en-IN" dirty="0"/>
              <a:t>Rivers </a:t>
            </a:r>
          </a:p>
          <a:p>
            <a:r>
              <a:rPr lang="en-IN" dirty="0"/>
              <a:t>ponds </a:t>
            </a:r>
          </a:p>
          <a:p>
            <a:r>
              <a:rPr lang="en-IN" dirty="0"/>
              <a:t>Wells </a:t>
            </a:r>
          </a:p>
          <a:p>
            <a:r>
              <a:rPr lang="en-IN" dirty="0"/>
              <a:t>Bore wells </a:t>
            </a:r>
          </a:p>
          <a:p>
            <a:r>
              <a:rPr lang="en-IN" dirty="0"/>
              <a:t>Filer points </a:t>
            </a:r>
          </a:p>
        </p:txBody>
      </p:sp>
    </p:spTree>
    <p:extLst>
      <p:ext uri="{BB962C8B-B14F-4D97-AF65-F5344CB8AC3E}">
        <p14:creationId xmlns:p14="http://schemas.microsoft.com/office/powerpoint/2010/main" val="29738919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River </a:t>
            </a:r>
          </a:p>
        </p:txBody>
      </p:sp>
      <p:sp>
        <p:nvSpPr>
          <p:cNvPr id="3" name="Content Placeholder 2"/>
          <p:cNvSpPr>
            <a:spLocks noGrp="1"/>
          </p:cNvSpPr>
          <p:nvPr>
            <p:ph idx="1"/>
          </p:nvPr>
        </p:nvSpPr>
        <p:spPr/>
        <p:txBody>
          <a:bodyPr>
            <a:normAutofit fontScale="85000" lnSpcReduction="10000"/>
          </a:bodyPr>
          <a:lstStyle/>
          <a:p>
            <a:r>
              <a:rPr lang="en-US" dirty="0">
                <a:solidFill>
                  <a:srgbClr val="FF0000"/>
                </a:solidFill>
              </a:rPr>
              <a:t>Maintaining sufficient flow in the river and also to ensure the quality of river water </a:t>
            </a:r>
            <a:endParaRPr lang="en-IN" dirty="0">
              <a:solidFill>
                <a:srgbClr val="FF0000"/>
              </a:solidFill>
            </a:endParaRPr>
          </a:p>
          <a:p>
            <a:pPr lvl="0"/>
            <a:r>
              <a:rPr lang="en-US" dirty="0"/>
              <a:t>Discharge of untreated waste water without properly considering the self-purification capacity of rivers </a:t>
            </a:r>
            <a:endParaRPr lang="en-IN" dirty="0"/>
          </a:p>
          <a:p>
            <a:pPr lvl="0"/>
            <a:r>
              <a:rPr lang="en-US" dirty="0"/>
              <a:t>Sand mining </a:t>
            </a:r>
            <a:endParaRPr lang="en-IN" dirty="0"/>
          </a:p>
          <a:p>
            <a:pPr lvl="0"/>
            <a:r>
              <a:rPr lang="en-US" dirty="0"/>
              <a:t>Excessive usage of river water for domestic purposes </a:t>
            </a:r>
            <a:endParaRPr lang="en-IN" dirty="0"/>
          </a:p>
          <a:p>
            <a:pPr lvl="0"/>
            <a:r>
              <a:rPr lang="en-US" dirty="0">
                <a:solidFill>
                  <a:srgbClr val="002060"/>
                </a:solidFill>
              </a:rPr>
              <a:t>Role of government agencies like that of Pollution control board is predominant </a:t>
            </a:r>
            <a:endParaRPr lang="en-IN" dirty="0">
              <a:solidFill>
                <a:srgbClr val="002060"/>
              </a:solidFill>
            </a:endParaRPr>
          </a:p>
          <a:p>
            <a:r>
              <a:rPr lang="en-US" b="1" dirty="0"/>
              <a:t> construction of storage facilities in its course </a:t>
            </a:r>
            <a:endParaRPr lang="en-IN" dirty="0"/>
          </a:p>
          <a:p>
            <a:endParaRPr lang="en-IN" dirty="0"/>
          </a:p>
        </p:txBody>
      </p:sp>
    </p:spTree>
    <p:extLst>
      <p:ext uri="{BB962C8B-B14F-4D97-AF65-F5344CB8AC3E}">
        <p14:creationId xmlns:p14="http://schemas.microsoft.com/office/powerpoint/2010/main" val="4937517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Ponds </a:t>
            </a:r>
          </a:p>
        </p:txBody>
      </p:sp>
      <p:sp>
        <p:nvSpPr>
          <p:cNvPr id="3" name="Content Placeholder 2"/>
          <p:cNvSpPr>
            <a:spLocks noGrp="1"/>
          </p:cNvSpPr>
          <p:nvPr>
            <p:ph idx="1"/>
          </p:nvPr>
        </p:nvSpPr>
        <p:spPr/>
        <p:txBody>
          <a:bodyPr/>
          <a:lstStyle/>
          <a:p>
            <a:pPr lvl="0"/>
            <a:r>
              <a:rPr lang="en-US" dirty="0"/>
              <a:t>Ponds are contaminated with algal growth even if it is not polluted other wise </a:t>
            </a:r>
            <a:endParaRPr lang="en-IN" dirty="0"/>
          </a:p>
          <a:p>
            <a:pPr lvl="0"/>
            <a:r>
              <a:rPr lang="en-US" dirty="0"/>
              <a:t>Sunlight is the main source of algal pollution</a:t>
            </a:r>
            <a:endParaRPr lang="en-IN" dirty="0"/>
          </a:p>
          <a:p>
            <a:pPr lvl="0"/>
            <a:r>
              <a:rPr lang="en-US" dirty="0"/>
              <a:t>Preventing sunlight is the basic technique to control algae growth  </a:t>
            </a:r>
            <a:endParaRPr lang="en-IN" dirty="0"/>
          </a:p>
          <a:p>
            <a:pPr lvl="0"/>
            <a:r>
              <a:rPr lang="en-US" dirty="0"/>
              <a:t>Copper </a:t>
            </a:r>
            <a:r>
              <a:rPr lang="en-US" dirty="0" err="1"/>
              <a:t>sulphate</a:t>
            </a:r>
            <a:r>
              <a:rPr lang="en-US" dirty="0"/>
              <a:t> and chlorine treatment are options for algae growth</a:t>
            </a:r>
            <a:endParaRPr lang="en-IN" dirty="0"/>
          </a:p>
          <a:p>
            <a:pPr marL="0" indent="0">
              <a:buNone/>
            </a:pPr>
            <a:endParaRPr lang="en-IN" dirty="0"/>
          </a:p>
        </p:txBody>
      </p:sp>
    </p:spTree>
    <p:extLst>
      <p:ext uri="{BB962C8B-B14F-4D97-AF65-F5344CB8AC3E}">
        <p14:creationId xmlns:p14="http://schemas.microsoft.com/office/powerpoint/2010/main" val="15277454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Wells </a:t>
            </a:r>
            <a:r>
              <a:rPr lang="en-IN"/>
              <a:t>and bore wells </a:t>
            </a:r>
            <a:endParaRPr lang="en-IN" dirty="0"/>
          </a:p>
        </p:txBody>
      </p:sp>
      <p:sp>
        <p:nvSpPr>
          <p:cNvPr id="3" name="Content Placeholder 2"/>
          <p:cNvSpPr>
            <a:spLocks noGrp="1"/>
          </p:cNvSpPr>
          <p:nvPr>
            <p:ph idx="1"/>
          </p:nvPr>
        </p:nvSpPr>
        <p:spPr/>
        <p:txBody>
          <a:bodyPr>
            <a:noAutofit/>
          </a:bodyPr>
          <a:lstStyle/>
          <a:p>
            <a:r>
              <a:rPr lang="en-IN" sz="2800" dirty="0"/>
              <a:t>Kerala having maximum well density</a:t>
            </a:r>
          </a:p>
          <a:p>
            <a:pPr lvl="0"/>
            <a:r>
              <a:rPr lang="en-US" sz="2800" dirty="0"/>
              <a:t> Pollution of well by household wastes /other wastes </a:t>
            </a:r>
            <a:endParaRPr lang="en-IN" sz="2800" dirty="0"/>
          </a:p>
          <a:p>
            <a:pPr lvl="0"/>
            <a:r>
              <a:rPr lang="en-US" sz="2800" dirty="0"/>
              <a:t>Shortage of water during summer </a:t>
            </a:r>
            <a:endParaRPr lang="en-IN" sz="2800" dirty="0"/>
          </a:p>
          <a:p>
            <a:pPr lvl="0"/>
            <a:r>
              <a:rPr lang="en-US" sz="2800" dirty="0"/>
              <a:t>Wells are not protected properly and rainwater harvesting nominal</a:t>
            </a:r>
            <a:endParaRPr lang="en-IN" sz="2800" dirty="0"/>
          </a:p>
          <a:p>
            <a:pPr lvl="0"/>
            <a:r>
              <a:rPr lang="en-US" sz="2800" dirty="0"/>
              <a:t>House and surroundings- house and surrounding not maintained properly </a:t>
            </a:r>
            <a:endParaRPr lang="en-IN" sz="2800" dirty="0"/>
          </a:p>
          <a:p>
            <a:pPr lvl="0"/>
            <a:r>
              <a:rPr lang="en-US" sz="2800" dirty="0"/>
              <a:t>Environmental planning of houses and surrounding is not  adopted  properly </a:t>
            </a:r>
            <a:endParaRPr lang="en-IN" sz="2800" dirty="0"/>
          </a:p>
        </p:txBody>
      </p:sp>
    </p:spTree>
    <p:extLst>
      <p:ext uri="{BB962C8B-B14F-4D97-AF65-F5344CB8AC3E}">
        <p14:creationId xmlns:p14="http://schemas.microsoft.com/office/powerpoint/2010/main" val="3603334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Remedies </a:t>
            </a:r>
          </a:p>
        </p:txBody>
      </p:sp>
      <p:sp>
        <p:nvSpPr>
          <p:cNvPr id="3" name="Content Placeholder 2"/>
          <p:cNvSpPr>
            <a:spLocks noGrp="1"/>
          </p:cNvSpPr>
          <p:nvPr>
            <p:ph idx="1"/>
          </p:nvPr>
        </p:nvSpPr>
        <p:spPr/>
        <p:txBody>
          <a:bodyPr>
            <a:normAutofit lnSpcReduction="10000"/>
          </a:bodyPr>
          <a:lstStyle/>
          <a:p>
            <a:r>
              <a:rPr lang="en-US" dirty="0"/>
              <a:t>Rain water harvesting is essential for all wells except in water logged  area </a:t>
            </a:r>
          </a:p>
          <a:p>
            <a:r>
              <a:rPr lang="en-US" dirty="0"/>
              <a:t>Proper maintenance of wells </a:t>
            </a:r>
          </a:p>
          <a:p>
            <a:r>
              <a:rPr lang="en-US" dirty="0"/>
              <a:t> Environmental planning of house and the surroundings  to be considered .</a:t>
            </a:r>
          </a:p>
          <a:p>
            <a:r>
              <a:rPr lang="en-US" dirty="0"/>
              <a:t>Periodic monitoring of well water quality both by observance , testing </a:t>
            </a:r>
            <a:r>
              <a:rPr lang="en-US" dirty="0" err="1"/>
              <a:t>etc</a:t>
            </a:r>
            <a:r>
              <a:rPr lang="en-US" dirty="0"/>
              <a:t> </a:t>
            </a:r>
          </a:p>
          <a:p>
            <a:r>
              <a:rPr lang="en-US" dirty="0"/>
              <a:t>While testing look for organic matter in terms of </a:t>
            </a:r>
            <a:r>
              <a:rPr lang="en-US" dirty="0">
                <a:solidFill>
                  <a:srgbClr val="FF0000"/>
                </a:solidFill>
              </a:rPr>
              <a:t>BOD/COD</a:t>
            </a:r>
          </a:p>
          <a:p>
            <a:endParaRPr lang="en-US" dirty="0"/>
          </a:p>
          <a:p>
            <a:endParaRPr lang="en-IN" dirty="0"/>
          </a:p>
        </p:txBody>
      </p:sp>
    </p:spTree>
    <p:extLst>
      <p:ext uri="{BB962C8B-B14F-4D97-AF65-F5344CB8AC3E}">
        <p14:creationId xmlns:p14="http://schemas.microsoft.com/office/powerpoint/2010/main" val="27976030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FF0000"/>
                </a:solidFill>
              </a:rPr>
              <a:t>General water quality issues in the state affecting wells / other Sources </a:t>
            </a:r>
          </a:p>
        </p:txBody>
      </p:sp>
      <p:sp>
        <p:nvSpPr>
          <p:cNvPr id="3" name="Content Placeholder 2"/>
          <p:cNvSpPr>
            <a:spLocks noGrp="1"/>
          </p:cNvSpPr>
          <p:nvPr>
            <p:ph sz="half" idx="1"/>
          </p:nvPr>
        </p:nvSpPr>
        <p:spPr/>
        <p:txBody>
          <a:bodyPr>
            <a:normAutofit/>
          </a:bodyPr>
          <a:lstStyle/>
          <a:p>
            <a:r>
              <a:rPr lang="en-IN" sz="3200" dirty="0"/>
              <a:t>Excess Bacterial presence</a:t>
            </a:r>
          </a:p>
          <a:p>
            <a:r>
              <a:rPr lang="en-IN" sz="3200" dirty="0"/>
              <a:t>Excess iron</a:t>
            </a:r>
          </a:p>
          <a:p>
            <a:r>
              <a:rPr lang="en-IN" sz="3200" dirty="0"/>
              <a:t>low pH</a:t>
            </a:r>
          </a:p>
          <a:p>
            <a:r>
              <a:rPr lang="en-IN" sz="3200" dirty="0"/>
              <a:t>very low pH</a:t>
            </a:r>
          </a:p>
          <a:p>
            <a:r>
              <a:rPr lang="en-IN" sz="3200" dirty="0"/>
              <a:t>high pH</a:t>
            </a:r>
          </a:p>
          <a:p>
            <a:r>
              <a:rPr lang="en-IN" sz="3200" dirty="0"/>
              <a:t>Excess turbidity</a:t>
            </a:r>
          </a:p>
        </p:txBody>
      </p:sp>
      <p:sp>
        <p:nvSpPr>
          <p:cNvPr id="4" name="Content Placeholder 3"/>
          <p:cNvSpPr>
            <a:spLocks noGrp="1"/>
          </p:cNvSpPr>
          <p:nvPr>
            <p:ph sz="half" idx="2"/>
          </p:nvPr>
        </p:nvSpPr>
        <p:spPr/>
        <p:txBody>
          <a:bodyPr/>
          <a:lstStyle/>
          <a:p>
            <a:r>
              <a:rPr lang="en-IN" dirty="0"/>
              <a:t>Excess  fluoride</a:t>
            </a:r>
          </a:p>
          <a:p>
            <a:r>
              <a:rPr lang="en-IN" dirty="0"/>
              <a:t>Excess Chloride</a:t>
            </a:r>
          </a:p>
          <a:p>
            <a:r>
              <a:rPr lang="en-US" dirty="0"/>
              <a:t>Organic pollution as BOD/ COD</a:t>
            </a:r>
          </a:p>
          <a:p>
            <a:r>
              <a:rPr lang="en-IN" dirty="0"/>
              <a:t>Excess hardness</a:t>
            </a:r>
          </a:p>
          <a:p>
            <a:r>
              <a:rPr lang="en-IN" dirty="0"/>
              <a:t>Growth of Algae</a:t>
            </a:r>
          </a:p>
          <a:p>
            <a:r>
              <a:rPr lang="en-IN" dirty="0"/>
              <a:t>Carbonate deposition</a:t>
            </a:r>
          </a:p>
        </p:txBody>
      </p:sp>
    </p:spTree>
    <p:extLst>
      <p:ext uri="{BB962C8B-B14F-4D97-AF65-F5344CB8AC3E}">
        <p14:creationId xmlns:p14="http://schemas.microsoft.com/office/powerpoint/2010/main" val="20475202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House and the surroundings </a:t>
            </a:r>
          </a:p>
        </p:txBody>
      </p:sp>
      <p:pic>
        <p:nvPicPr>
          <p:cNvPr id="4" name="Content Placeholder 3" descr="http://www.thelineer.com/images/house.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600200"/>
            <a:ext cx="8352928" cy="5069160"/>
          </a:xfrm>
          <a:prstGeom prst="rect">
            <a:avLst/>
          </a:prstGeom>
          <a:noFill/>
          <a:ln>
            <a:noFill/>
          </a:ln>
        </p:spPr>
      </p:pic>
    </p:spTree>
    <p:extLst>
      <p:ext uri="{BB962C8B-B14F-4D97-AF65-F5344CB8AC3E}">
        <p14:creationId xmlns:p14="http://schemas.microsoft.com/office/powerpoint/2010/main" val="27225460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House and Surroundings </a:t>
            </a:r>
          </a:p>
        </p:txBody>
      </p:sp>
      <p:sp>
        <p:nvSpPr>
          <p:cNvPr id="3" name="Content Placeholder 2"/>
          <p:cNvSpPr>
            <a:spLocks noGrp="1"/>
          </p:cNvSpPr>
          <p:nvPr>
            <p:ph sz="half" idx="1"/>
          </p:nvPr>
        </p:nvSpPr>
        <p:spPr/>
        <p:txBody>
          <a:bodyPr>
            <a:normAutofit fontScale="92500" lnSpcReduction="10000"/>
          </a:bodyPr>
          <a:lstStyle/>
          <a:p>
            <a:r>
              <a:rPr lang="en-IN" sz="4400" dirty="0">
                <a:solidFill>
                  <a:srgbClr val="FF0000"/>
                </a:solidFill>
              </a:rPr>
              <a:t>Well /</a:t>
            </a:r>
            <a:r>
              <a:rPr lang="en-IN" sz="4400" dirty="0" err="1">
                <a:solidFill>
                  <a:srgbClr val="FF0000"/>
                </a:solidFill>
              </a:rPr>
              <a:t>Borewell</a:t>
            </a:r>
            <a:r>
              <a:rPr lang="en-IN" sz="4400" dirty="0">
                <a:solidFill>
                  <a:srgbClr val="FF0000"/>
                </a:solidFill>
              </a:rPr>
              <a:t> </a:t>
            </a:r>
          </a:p>
        </p:txBody>
      </p:sp>
      <p:sp>
        <p:nvSpPr>
          <p:cNvPr id="4" name="Content Placeholder 3"/>
          <p:cNvSpPr>
            <a:spLocks noGrp="1"/>
          </p:cNvSpPr>
          <p:nvPr>
            <p:ph sz="half" idx="2"/>
          </p:nvPr>
        </p:nvSpPr>
        <p:spPr>
          <a:xfrm>
            <a:off x="4648200" y="1600200"/>
            <a:ext cx="4038600" cy="5257800"/>
          </a:xfrm>
        </p:spPr>
        <p:txBody>
          <a:bodyPr>
            <a:normAutofit fontScale="92500" lnSpcReduction="10000"/>
          </a:bodyPr>
          <a:lstStyle/>
          <a:p>
            <a:r>
              <a:rPr lang="en-IN" dirty="0"/>
              <a:t>Septic tank / leach pit / other pits for excreta disposal </a:t>
            </a:r>
          </a:p>
          <a:p>
            <a:r>
              <a:rPr lang="en-IN" dirty="0"/>
              <a:t>Disposal of solid waste </a:t>
            </a:r>
          </a:p>
          <a:p>
            <a:r>
              <a:rPr lang="en-IN" dirty="0"/>
              <a:t>Disposal of liquid waste</a:t>
            </a:r>
          </a:p>
          <a:p>
            <a:r>
              <a:rPr lang="en-IN" dirty="0"/>
              <a:t>Waste sources from nearby houses / other establishment </a:t>
            </a:r>
          </a:p>
          <a:p>
            <a:r>
              <a:rPr lang="en-IN" dirty="0"/>
              <a:t>Pollution from non point sources </a:t>
            </a:r>
          </a:p>
          <a:p>
            <a:r>
              <a:rPr lang="en-IN" b="1" dirty="0">
                <a:solidFill>
                  <a:srgbClr val="FF0000"/>
                </a:solidFill>
              </a:rPr>
              <a:t>All the household waste to be disposed in their own land </a:t>
            </a:r>
          </a:p>
        </p:txBody>
      </p:sp>
    </p:spTree>
    <p:extLst>
      <p:ext uri="{BB962C8B-B14F-4D97-AF65-F5344CB8AC3E}">
        <p14:creationId xmlns:p14="http://schemas.microsoft.com/office/powerpoint/2010/main" val="12198812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Environmental planning of house and surroundings </a:t>
            </a:r>
          </a:p>
        </p:txBody>
      </p:sp>
      <p:sp>
        <p:nvSpPr>
          <p:cNvPr id="3" name="Content Placeholder 2"/>
          <p:cNvSpPr>
            <a:spLocks noGrp="1"/>
          </p:cNvSpPr>
          <p:nvPr>
            <p:ph idx="1"/>
          </p:nvPr>
        </p:nvSpPr>
        <p:spPr/>
        <p:txBody>
          <a:bodyPr>
            <a:normAutofit lnSpcReduction="10000"/>
          </a:bodyPr>
          <a:lstStyle/>
          <a:p>
            <a:r>
              <a:rPr lang="en-US" dirty="0"/>
              <a:t>1.	There should be enough plants around the house to absorb Carbon dioxide and produce oxygen </a:t>
            </a:r>
          </a:p>
          <a:p>
            <a:r>
              <a:rPr lang="en-US" dirty="0"/>
              <a:t>2.	Plants also absorbs a portion of the waste water during its growth process </a:t>
            </a:r>
          </a:p>
          <a:p>
            <a:r>
              <a:rPr lang="en-US" dirty="0"/>
              <a:t>3.	Use septic tank for disposal of human excreta  especially in water logged area., only if the maximum water level is low then only pits can be provided for disposal of excreta</a:t>
            </a:r>
          </a:p>
        </p:txBody>
      </p:sp>
    </p:spTree>
    <p:extLst>
      <p:ext uri="{BB962C8B-B14F-4D97-AF65-F5344CB8AC3E}">
        <p14:creationId xmlns:p14="http://schemas.microsoft.com/office/powerpoint/2010/main" val="15237421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Continued </a:t>
            </a:r>
          </a:p>
        </p:txBody>
      </p:sp>
      <p:sp>
        <p:nvSpPr>
          <p:cNvPr id="3" name="Content Placeholder 2"/>
          <p:cNvSpPr>
            <a:spLocks noGrp="1"/>
          </p:cNvSpPr>
          <p:nvPr>
            <p:ph idx="1"/>
          </p:nvPr>
        </p:nvSpPr>
        <p:spPr/>
        <p:txBody>
          <a:bodyPr>
            <a:normAutofit/>
          </a:bodyPr>
          <a:lstStyle/>
          <a:p>
            <a:r>
              <a:rPr lang="en-US" dirty="0"/>
              <a:t>4.	Always ensure absence of organic matter in the well water to avoid its ill effects </a:t>
            </a:r>
          </a:p>
          <a:p>
            <a:r>
              <a:rPr lang="en-US" dirty="0"/>
              <a:t>5.	Liquid waste to be disposed through soak pit so that there is no ingress  of waste water in to the well </a:t>
            </a:r>
          </a:p>
          <a:p>
            <a:r>
              <a:rPr lang="en-US" dirty="0"/>
              <a:t>6.	Solid waste is to  be disposed  through separation, recycling or biodegradable processes</a:t>
            </a:r>
          </a:p>
          <a:p>
            <a:endParaRPr lang="en-US" dirty="0"/>
          </a:p>
          <a:p>
            <a:endParaRPr lang="en-US" dirty="0"/>
          </a:p>
          <a:p>
            <a:endParaRPr lang="en-IN" dirty="0"/>
          </a:p>
        </p:txBody>
      </p:sp>
    </p:spTree>
    <p:extLst>
      <p:ext uri="{BB962C8B-B14F-4D97-AF65-F5344CB8AC3E}">
        <p14:creationId xmlns:p14="http://schemas.microsoft.com/office/powerpoint/2010/main" val="20915405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Continued </a:t>
            </a:r>
          </a:p>
        </p:txBody>
      </p:sp>
      <p:sp>
        <p:nvSpPr>
          <p:cNvPr id="3" name="Content Placeholder 2"/>
          <p:cNvSpPr>
            <a:spLocks noGrp="1"/>
          </p:cNvSpPr>
          <p:nvPr>
            <p:ph idx="1"/>
          </p:nvPr>
        </p:nvSpPr>
        <p:spPr/>
        <p:txBody>
          <a:bodyPr>
            <a:normAutofit fontScale="92500"/>
          </a:bodyPr>
          <a:lstStyle/>
          <a:p>
            <a:r>
              <a:rPr lang="en-US" dirty="0"/>
              <a:t>7.	While fixing the position of waste disposal systems in our house  consider the nearby area and the waste disposal systems in the </a:t>
            </a:r>
            <a:r>
              <a:rPr lang="en-US" dirty="0" err="1"/>
              <a:t>neighbouring</a:t>
            </a:r>
            <a:r>
              <a:rPr lang="en-US" dirty="0"/>
              <a:t> houses and other establishments  </a:t>
            </a:r>
          </a:p>
          <a:p>
            <a:r>
              <a:rPr lang="en-US" dirty="0"/>
              <a:t>8)  Existence of upland waste source is not suitable for the water source to remain safe </a:t>
            </a:r>
          </a:p>
          <a:p>
            <a:r>
              <a:rPr lang="en-US" dirty="0"/>
              <a:t>9)  Try to keep maximum distance  between the well and waste source irrespective of the LSGD restriction</a:t>
            </a:r>
          </a:p>
          <a:p>
            <a:endParaRPr lang="en-IN" dirty="0"/>
          </a:p>
        </p:txBody>
      </p:sp>
    </p:spTree>
    <p:extLst>
      <p:ext uri="{BB962C8B-B14F-4D97-AF65-F5344CB8AC3E}">
        <p14:creationId xmlns:p14="http://schemas.microsoft.com/office/powerpoint/2010/main" val="25961754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Eco friendly &amp;Eco enemy  house </a:t>
            </a:r>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251520" y="1916832"/>
            <a:ext cx="4244280"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916832"/>
            <a:ext cx="4038600"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80413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Well maintenance </a:t>
            </a:r>
            <a:br>
              <a:rPr lang="en-IN" dirty="0"/>
            </a:br>
            <a:endParaRPr lang="en-IN" dirty="0"/>
          </a:p>
        </p:txBody>
      </p:sp>
      <p:sp>
        <p:nvSpPr>
          <p:cNvPr id="3" name="Content Placeholder 2"/>
          <p:cNvSpPr>
            <a:spLocks noGrp="1"/>
          </p:cNvSpPr>
          <p:nvPr>
            <p:ph idx="1"/>
          </p:nvPr>
        </p:nvSpPr>
        <p:spPr>
          <a:xfrm>
            <a:off x="457200" y="908720"/>
            <a:ext cx="8229600" cy="5217443"/>
          </a:xfrm>
        </p:spPr>
        <p:txBody>
          <a:bodyPr>
            <a:noAutofit/>
          </a:bodyPr>
          <a:lstStyle/>
          <a:p>
            <a:r>
              <a:rPr lang="en-US" sz="2700" dirty="0"/>
              <a:t>a)	The premises of  the well should be hygienic and clean</a:t>
            </a:r>
          </a:p>
          <a:p>
            <a:r>
              <a:rPr lang="en-US" sz="2700" dirty="0"/>
              <a:t>b)	Unused wells using for dumping of waste is highly dangerous. It will pollute the ground water, should be filled </a:t>
            </a:r>
          </a:p>
          <a:p>
            <a:r>
              <a:rPr lang="en-US" sz="2700" dirty="0"/>
              <a:t>c)	Proper drainage should be there around the well to avoid stagnation of water and intrusion in to the well </a:t>
            </a:r>
          </a:p>
          <a:p>
            <a:r>
              <a:rPr lang="en-US" sz="2700" dirty="0"/>
              <a:t>d)	Use motor with low discharge to limit speedy  percolation of water in to the well </a:t>
            </a:r>
          </a:p>
          <a:p>
            <a:r>
              <a:rPr lang="en-US" sz="2700" dirty="0"/>
              <a:t>e)	Avoid polluting sources near the well especially upland</a:t>
            </a:r>
          </a:p>
          <a:p>
            <a:endParaRPr lang="en-IN" sz="2700" dirty="0"/>
          </a:p>
        </p:txBody>
      </p:sp>
    </p:spTree>
    <p:extLst>
      <p:ext uri="{BB962C8B-B14F-4D97-AF65-F5344CB8AC3E}">
        <p14:creationId xmlns:p14="http://schemas.microsoft.com/office/powerpoint/2010/main" val="3522982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f)	</a:t>
            </a:r>
            <a:r>
              <a:rPr lang="en-US" dirty="0" err="1"/>
              <a:t>Almira</a:t>
            </a:r>
            <a:r>
              <a:rPr lang="en-US" dirty="0"/>
              <a:t> and platform around the well is highly essential </a:t>
            </a:r>
          </a:p>
          <a:p>
            <a:endParaRPr lang="en-US" dirty="0"/>
          </a:p>
          <a:p>
            <a:endParaRPr lang="en-IN" dirty="0"/>
          </a:p>
        </p:txBody>
      </p:sp>
    </p:spTree>
    <p:extLst>
      <p:ext uri="{BB962C8B-B14F-4D97-AF65-F5344CB8AC3E}">
        <p14:creationId xmlns:p14="http://schemas.microsoft.com/office/powerpoint/2010/main" val="18274116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Well platform and </a:t>
            </a:r>
            <a:r>
              <a:rPr lang="en-IN" dirty="0" err="1"/>
              <a:t>Almira</a:t>
            </a:r>
            <a:endParaRPr lang="en-IN" dirty="0"/>
          </a:p>
        </p:txBody>
      </p:sp>
      <p:sp>
        <p:nvSpPr>
          <p:cNvPr id="3" name="Content Placeholder 2"/>
          <p:cNvSpPr>
            <a:spLocks noGrp="1"/>
          </p:cNvSpPr>
          <p:nvPr>
            <p:ph idx="1"/>
          </p:nvPr>
        </p:nvSpPr>
        <p:spPr/>
        <p:txBody>
          <a:bodyPr>
            <a:normAutofit fontScale="92500"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r>
              <a:rPr lang="en-US" dirty="0"/>
              <a:t>Width of platform less				           Width of platform less ----- more </a:t>
            </a:r>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84923" y="1595397"/>
            <a:ext cx="7992888" cy="3888432"/>
          </a:xfrm>
          <a:prstGeom prst="rect">
            <a:avLst/>
          </a:prstGeom>
          <a:noFill/>
          <a:ln>
            <a:noFill/>
          </a:ln>
        </p:spPr>
      </p:pic>
    </p:spTree>
    <p:extLst>
      <p:ext uri="{BB962C8B-B14F-4D97-AF65-F5344CB8AC3E}">
        <p14:creationId xmlns:p14="http://schemas.microsoft.com/office/powerpoint/2010/main" val="22290416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g)	provide impervious platform and sidewall to a reasonable depth about 3meters  especially in water logged area</a:t>
            </a:r>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763688" y="3861048"/>
            <a:ext cx="4775200" cy="2259330"/>
          </a:xfrm>
          <a:prstGeom prst="rect">
            <a:avLst/>
          </a:prstGeom>
          <a:noFill/>
          <a:ln>
            <a:noFill/>
          </a:ln>
        </p:spPr>
      </p:pic>
    </p:spTree>
    <p:extLst>
      <p:ext uri="{BB962C8B-B14F-4D97-AF65-F5344CB8AC3E}">
        <p14:creationId xmlns:p14="http://schemas.microsoft.com/office/powerpoint/2010/main" val="15948471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Continued </a:t>
            </a:r>
          </a:p>
        </p:txBody>
      </p:sp>
      <p:sp>
        <p:nvSpPr>
          <p:cNvPr id="3" name="Content Placeholder 2"/>
          <p:cNvSpPr>
            <a:spLocks noGrp="1"/>
          </p:cNvSpPr>
          <p:nvPr>
            <p:ph idx="1"/>
          </p:nvPr>
        </p:nvSpPr>
        <p:spPr>
          <a:xfrm>
            <a:off x="457200" y="1052736"/>
            <a:ext cx="8229600" cy="5073427"/>
          </a:xfrm>
        </p:spPr>
        <p:txBody>
          <a:bodyPr>
            <a:noAutofit/>
          </a:bodyPr>
          <a:lstStyle/>
          <a:p>
            <a:pPr marL="0" lvl="0" indent="0">
              <a:buNone/>
            </a:pPr>
            <a:r>
              <a:rPr lang="en-IN" sz="2800" dirty="0"/>
              <a:t>h)Avoid bath rooms attached to the wells </a:t>
            </a:r>
          </a:p>
          <a:p>
            <a:pPr marL="0" lvl="0" indent="0">
              <a:buNone/>
            </a:pPr>
            <a:r>
              <a:rPr lang="en-IN" sz="2800" dirty="0"/>
              <a:t>i)Avoid usage of rope and bucket for withdrawing water from the well </a:t>
            </a:r>
          </a:p>
          <a:p>
            <a:pPr marL="0" lvl="0" indent="0">
              <a:buNone/>
            </a:pPr>
            <a:r>
              <a:rPr lang="en-IN" sz="2800" dirty="0"/>
              <a:t>j)Avoid incidence of sunlight direct to the well  as it can cause growth of algae</a:t>
            </a:r>
          </a:p>
          <a:p>
            <a:pPr marL="0" lvl="0" indent="0">
              <a:buNone/>
            </a:pPr>
            <a:r>
              <a:rPr lang="en-IN" sz="2800" dirty="0"/>
              <a:t>k)Do not fix the foot valve to the bottom of the well, instead use flexible ooze so that foot valve can be lowered or raised as per the fluctuation in water level. This is because bottom of the well contains excessive Iron</a:t>
            </a:r>
          </a:p>
        </p:txBody>
      </p:sp>
    </p:spTree>
    <p:extLst>
      <p:ext uri="{BB962C8B-B14F-4D97-AF65-F5344CB8AC3E}">
        <p14:creationId xmlns:p14="http://schemas.microsoft.com/office/powerpoint/2010/main" val="387755341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l)Cover the well to avoid entry of other materials and algae growth </a:t>
            </a:r>
          </a:p>
          <a:p>
            <a:pPr marL="0" indent="0">
              <a:buNone/>
            </a:pPr>
            <a:r>
              <a:rPr lang="en-US" dirty="0"/>
              <a:t>m)Well chlorination periodically as per WHO guidelines </a:t>
            </a:r>
          </a:p>
          <a:p>
            <a:endParaRPr lang="en-IN" dirty="0"/>
          </a:p>
        </p:txBody>
      </p:sp>
    </p:spTree>
    <p:extLst>
      <p:ext uri="{BB962C8B-B14F-4D97-AF65-F5344CB8AC3E}">
        <p14:creationId xmlns:p14="http://schemas.microsoft.com/office/powerpoint/2010/main" val="39912169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Zones in the state based on Pollution Potential</a:t>
            </a:r>
          </a:p>
        </p:txBody>
      </p:sp>
      <p:sp>
        <p:nvSpPr>
          <p:cNvPr id="3" name="Content Placeholder 2"/>
          <p:cNvSpPr>
            <a:spLocks noGrp="1"/>
          </p:cNvSpPr>
          <p:nvPr>
            <p:ph idx="1"/>
          </p:nvPr>
        </p:nvSpPr>
        <p:spPr/>
        <p:txBody>
          <a:bodyPr>
            <a:normAutofit lnSpcReduction="10000"/>
          </a:bodyPr>
          <a:lstStyle/>
          <a:p>
            <a:pPr lvl="0"/>
            <a:r>
              <a:rPr lang="en-IN" dirty="0"/>
              <a:t>Water logged area </a:t>
            </a:r>
          </a:p>
          <a:p>
            <a:pPr lvl="0"/>
            <a:r>
              <a:rPr lang="en-IN" dirty="0"/>
              <a:t>Coastal area </a:t>
            </a:r>
          </a:p>
          <a:p>
            <a:pPr lvl="0"/>
            <a:r>
              <a:rPr lang="en-IN" dirty="0"/>
              <a:t>Thickly Populated Urban area ( towns , cities </a:t>
            </a:r>
            <a:r>
              <a:rPr lang="en-IN" dirty="0" err="1"/>
              <a:t>etc</a:t>
            </a:r>
            <a:r>
              <a:rPr lang="en-IN" dirty="0"/>
              <a:t>)</a:t>
            </a:r>
          </a:p>
          <a:p>
            <a:pPr lvl="0"/>
            <a:r>
              <a:rPr lang="en-IN" dirty="0"/>
              <a:t>Thickly Populated  Rural Area </a:t>
            </a:r>
          </a:p>
          <a:p>
            <a:pPr lvl="0"/>
            <a:r>
              <a:rPr lang="en-IN" dirty="0"/>
              <a:t>Industrial area </a:t>
            </a:r>
          </a:p>
          <a:p>
            <a:pPr lvl="0"/>
            <a:r>
              <a:rPr lang="en-IN" dirty="0"/>
              <a:t>Geographically specific area </a:t>
            </a:r>
          </a:p>
          <a:p>
            <a:pPr lvl="0"/>
            <a:r>
              <a:rPr lang="en-IN" dirty="0"/>
              <a:t>Less populated rural area </a:t>
            </a:r>
          </a:p>
          <a:p>
            <a:endParaRPr lang="en-IN" dirty="0"/>
          </a:p>
        </p:txBody>
      </p:sp>
    </p:spTree>
    <p:extLst>
      <p:ext uri="{BB962C8B-B14F-4D97-AF65-F5344CB8AC3E}">
        <p14:creationId xmlns:p14="http://schemas.microsoft.com/office/powerpoint/2010/main" val="305550771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404664"/>
            <a:ext cx="7128792" cy="645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473634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Remedies </a:t>
            </a:r>
          </a:p>
        </p:txBody>
      </p:sp>
      <p:sp>
        <p:nvSpPr>
          <p:cNvPr id="3" name="Content Placeholder 2"/>
          <p:cNvSpPr>
            <a:spLocks noGrp="1"/>
          </p:cNvSpPr>
          <p:nvPr>
            <p:ph sz="half" idx="1"/>
          </p:nvPr>
        </p:nvSpPr>
        <p:spPr>
          <a:xfrm>
            <a:off x="457200" y="1600200"/>
            <a:ext cx="1882552" cy="4525963"/>
          </a:xfrm>
        </p:spPr>
        <p:txBody>
          <a:bodyPr>
            <a:normAutofit/>
          </a:bodyPr>
          <a:lstStyle/>
          <a:p>
            <a:r>
              <a:rPr lang="en-IN" dirty="0">
                <a:solidFill>
                  <a:srgbClr val="FF0000"/>
                </a:solidFill>
              </a:rPr>
              <a:t>Water logged area </a:t>
            </a:r>
          </a:p>
        </p:txBody>
      </p:sp>
      <p:sp>
        <p:nvSpPr>
          <p:cNvPr id="4" name="Content Placeholder 3"/>
          <p:cNvSpPr>
            <a:spLocks noGrp="1"/>
          </p:cNvSpPr>
          <p:nvPr>
            <p:ph sz="half" idx="2"/>
          </p:nvPr>
        </p:nvSpPr>
        <p:spPr>
          <a:xfrm>
            <a:off x="2339752" y="908720"/>
            <a:ext cx="6347048" cy="5949280"/>
          </a:xfrm>
        </p:spPr>
        <p:txBody>
          <a:bodyPr>
            <a:noAutofit/>
          </a:bodyPr>
          <a:lstStyle/>
          <a:p>
            <a:r>
              <a:rPr lang="en-US" dirty="0"/>
              <a:t>Construction of  good quality septic tank with inlet and outlet above maximum water level for disposal of human excreta . .</a:t>
            </a:r>
          </a:p>
          <a:p>
            <a:r>
              <a:rPr lang="en-US" dirty="0"/>
              <a:t>Avoid dumping of solid waste in to the soil.</a:t>
            </a:r>
          </a:p>
          <a:p>
            <a:r>
              <a:rPr lang="en-US" dirty="0"/>
              <a:t>.Effective water supply system is  a  solution. </a:t>
            </a:r>
          </a:p>
          <a:p>
            <a:r>
              <a:rPr lang="en-IN" dirty="0"/>
              <a:t>  Constant Monitoring of water quality  variation is essential </a:t>
            </a:r>
          </a:p>
        </p:txBody>
      </p:sp>
    </p:spTree>
    <p:extLst>
      <p:ext uri="{BB962C8B-B14F-4D97-AF65-F5344CB8AC3E}">
        <p14:creationId xmlns:p14="http://schemas.microsoft.com/office/powerpoint/2010/main" val="64691906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Coastal area </a:t>
            </a:r>
          </a:p>
        </p:txBody>
      </p:sp>
      <p:sp>
        <p:nvSpPr>
          <p:cNvPr id="3" name="Content Placeholder 2"/>
          <p:cNvSpPr>
            <a:spLocks noGrp="1"/>
          </p:cNvSpPr>
          <p:nvPr>
            <p:ph sz="half" idx="1"/>
          </p:nvPr>
        </p:nvSpPr>
        <p:spPr>
          <a:xfrm>
            <a:off x="457199" y="1600200"/>
            <a:ext cx="3394719" cy="4781127"/>
          </a:xfrm>
        </p:spPr>
        <p:txBody>
          <a:bodyPr>
            <a:normAutofit fontScale="92500"/>
          </a:bodyPr>
          <a:lstStyle/>
          <a:p>
            <a:r>
              <a:rPr lang="en-IN" sz="3500" dirty="0">
                <a:solidFill>
                  <a:srgbClr val="FF0000"/>
                </a:solidFill>
              </a:rPr>
              <a:t>Problem </a:t>
            </a:r>
          </a:p>
          <a:p>
            <a:r>
              <a:rPr lang="en-IN" dirty="0"/>
              <a:t>Sea water intrusion</a:t>
            </a:r>
          </a:p>
          <a:p>
            <a:endParaRPr lang="en-IN" dirty="0"/>
          </a:p>
        </p:txBody>
      </p:sp>
      <p:sp>
        <p:nvSpPr>
          <p:cNvPr id="4" name="Content Placeholder 3"/>
          <p:cNvSpPr>
            <a:spLocks noGrp="1"/>
          </p:cNvSpPr>
          <p:nvPr>
            <p:ph sz="half" idx="2"/>
          </p:nvPr>
        </p:nvSpPr>
        <p:spPr>
          <a:xfrm>
            <a:off x="3923928" y="1600200"/>
            <a:ext cx="4762872" cy="4525963"/>
          </a:xfrm>
        </p:spPr>
        <p:txBody>
          <a:bodyPr>
            <a:normAutofit fontScale="92500"/>
          </a:bodyPr>
          <a:lstStyle/>
          <a:p>
            <a:r>
              <a:rPr lang="en-US" sz="3500" dirty="0">
                <a:solidFill>
                  <a:srgbClr val="FF0000"/>
                </a:solidFill>
              </a:rPr>
              <a:t>Solutions</a:t>
            </a:r>
            <a:r>
              <a:rPr lang="en-US" dirty="0"/>
              <a:t> </a:t>
            </a:r>
          </a:p>
          <a:p>
            <a:r>
              <a:rPr lang="en-US" dirty="0"/>
              <a:t>1)	Avoid excess withdrawal of ground water in coastal area </a:t>
            </a:r>
          </a:p>
          <a:p>
            <a:r>
              <a:rPr lang="en-US" dirty="0"/>
              <a:t>2)While digging a well  depth  should be limited   so that only clear water from the top only can be withdrawn </a:t>
            </a:r>
          </a:p>
          <a:p>
            <a:r>
              <a:rPr lang="en-US" dirty="0"/>
              <a:t>3)	Domestic level water treatment kits which can be used  at household level </a:t>
            </a:r>
            <a:endParaRPr lang="en-IN" dirty="0"/>
          </a:p>
        </p:txBody>
      </p:sp>
      <p:pic>
        <p:nvPicPr>
          <p:cNvPr id="5" name="Picture 4"/>
          <p:cNvPicPr/>
          <p:nvPr/>
        </p:nvPicPr>
        <p:blipFill>
          <a:blip r:embed="rId2"/>
          <a:srcRect/>
          <a:stretch>
            <a:fillRect/>
          </a:stretch>
        </p:blipFill>
        <p:spPr bwMode="auto">
          <a:xfrm>
            <a:off x="179512" y="2924943"/>
            <a:ext cx="3672407" cy="3168353"/>
          </a:xfrm>
          <a:prstGeom prst="rect">
            <a:avLst/>
          </a:prstGeom>
          <a:noFill/>
          <a:ln w="9525" cap="flat" cmpd="sng">
            <a:noFill/>
            <a:prstDash val="solid"/>
            <a:miter lim="800000"/>
            <a:headEnd type="none" w="med" len="med"/>
            <a:tailEnd type="none" w="med" len="med"/>
          </a:ln>
          <a:effectLst/>
        </p:spPr>
      </p:pic>
    </p:spTree>
    <p:extLst>
      <p:ext uri="{BB962C8B-B14F-4D97-AF65-F5344CB8AC3E}">
        <p14:creationId xmlns:p14="http://schemas.microsoft.com/office/powerpoint/2010/main" val="22687315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Thickly populated urban area </a:t>
            </a:r>
          </a:p>
        </p:txBody>
      </p:sp>
      <p:sp>
        <p:nvSpPr>
          <p:cNvPr id="3" name="Content Placeholder 2"/>
          <p:cNvSpPr>
            <a:spLocks noGrp="1"/>
          </p:cNvSpPr>
          <p:nvPr>
            <p:ph sz="half" idx="1"/>
          </p:nvPr>
        </p:nvSpPr>
        <p:spPr>
          <a:xfrm>
            <a:off x="457200" y="1600200"/>
            <a:ext cx="2746648" cy="4525963"/>
          </a:xfrm>
        </p:spPr>
        <p:txBody>
          <a:bodyPr>
            <a:normAutofit fontScale="85000" lnSpcReduction="20000"/>
          </a:bodyPr>
          <a:lstStyle/>
          <a:p>
            <a:pPr marL="0" indent="0">
              <a:buNone/>
            </a:pPr>
            <a:r>
              <a:rPr lang="en-US" sz="3800" dirty="0">
                <a:solidFill>
                  <a:srgbClr val="FF0000"/>
                </a:solidFill>
              </a:rPr>
              <a:t>PROBLEMS</a:t>
            </a:r>
            <a:r>
              <a:rPr lang="en-US" dirty="0">
                <a:solidFill>
                  <a:srgbClr val="FF0000"/>
                </a:solidFill>
              </a:rPr>
              <a:t> </a:t>
            </a:r>
          </a:p>
          <a:p>
            <a:pPr marL="0" indent="0">
              <a:buNone/>
            </a:pPr>
            <a:endParaRPr lang="en-US" dirty="0"/>
          </a:p>
          <a:p>
            <a:pPr marL="0" indent="0">
              <a:buNone/>
            </a:pPr>
            <a:r>
              <a:rPr lang="en-US" dirty="0"/>
              <a:t>•Presence of coliform  bacteria </a:t>
            </a:r>
          </a:p>
          <a:p>
            <a:pPr marL="0" indent="0">
              <a:buNone/>
            </a:pPr>
            <a:r>
              <a:rPr lang="en-US" dirty="0"/>
              <a:t>•Presence of excess Iron in drinking water</a:t>
            </a:r>
          </a:p>
          <a:p>
            <a:pPr marL="0" indent="0">
              <a:buNone/>
            </a:pPr>
            <a:r>
              <a:rPr lang="en-US" dirty="0"/>
              <a:t>•Presence of organic matter </a:t>
            </a:r>
          </a:p>
          <a:p>
            <a:pPr marL="0" indent="0">
              <a:buNone/>
            </a:pPr>
            <a:r>
              <a:rPr lang="en-US" dirty="0"/>
              <a:t>•Low pH and in rare cases high pH</a:t>
            </a:r>
          </a:p>
          <a:p>
            <a:pPr marL="0" indent="0">
              <a:buNone/>
            </a:pPr>
            <a:r>
              <a:rPr lang="en-US" dirty="0"/>
              <a:t>•growth of algae</a:t>
            </a:r>
          </a:p>
          <a:p>
            <a:endParaRPr lang="en-IN" dirty="0"/>
          </a:p>
        </p:txBody>
      </p:sp>
      <p:sp>
        <p:nvSpPr>
          <p:cNvPr id="4" name="Content Placeholder 3"/>
          <p:cNvSpPr>
            <a:spLocks noGrp="1"/>
          </p:cNvSpPr>
          <p:nvPr>
            <p:ph sz="half" idx="2"/>
          </p:nvPr>
        </p:nvSpPr>
        <p:spPr>
          <a:xfrm>
            <a:off x="3779912" y="1600200"/>
            <a:ext cx="4906888" cy="4997152"/>
          </a:xfrm>
        </p:spPr>
        <p:txBody>
          <a:bodyPr>
            <a:normAutofit fontScale="85000" lnSpcReduction="20000"/>
          </a:bodyPr>
          <a:lstStyle/>
          <a:p>
            <a:pPr marL="0" indent="0">
              <a:buNone/>
            </a:pPr>
            <a:r>
              <a:rPr lang="en-US" sz="3800" dirty="0">
                <a:solidFill>
                  <a:srgbClr val="FF0000"/>
                </a:solidFill>
              </a:rPr>
              <a:t>SOLUTIONS</a:t>
            </a:r>
          </a:p>
          <a:p>
            <a:r>
              <a:rPr lang="en-US" dirty="0"/>
              <a:t>Constant monitoring  for presence of organic matter </a:t>
            </a:r>
          </a:p>
          <a:p>
            <a:r>
              <a:rPr lang="en-US" dirty="0"/>
              <a:t>In addition to resident population floating population will also  be enormous .</a:t>
            </a:r>
          </a:p>
          <a:p>
            <a:r>
              <a:rPr lang="en-US" dirty="0"/>
              <a:t>.. traditional water sources are  likely to   be contaminated. </a:t>
            </a:r>
          </a:p>
          <a:p>
            <a:r>
              <a:rPr lang="en-US" dirty="0"/>
              <a:t>Establishments like hotels , small industries </a:t>
            </a:r>
            <a:r>
              <a:rPr lang="en-US" dirty="0" err="1"/>
              <a:t>etc</a:t>
            </a:r>
            <a:r>
              <a:rPr lang="en-US" dirty="0"/>
              <a:t> will contribute more to the pollution potential .</a:t>
            </a:r>
          </a:p>
          <a:p>
            <a:r>
              <a:rPr lang="en-US" dirty="0"/>
              <a:t>Well maintenance principles to be more scrupulous</a:t>
            </a:r>
            <a:endParaRPr lang="en-IN" dirty="0"/>
          </a:p>
        </p:txBody>
      </p:sp>
    </p:spTree>
    <p:extLst>
      <p:ext uri="{BB962C8B-B14F-4D97-AF65-F5344CB8AC3E}">
        <p14:creationId xmlns:p14="http://schemas.microsoft.com/office/powerpoint/2010/main" val="22127832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Thickly Populated Rural Area</a:t>
            </a:r>
          </a:p>
        </p:txBody>
      </p:sp>
      <p:sp>
        <p:nvSpPr>
          <p:cNvPr id="3" name="Content Placeholder 2"/>
          <p:cNvSpPr>
            <a:spLocks noGrp="1"/>
          </p:cNvSpPr>
          <p:nvPr>
            <p:ph sz="half" idx="1"/>
          </p:nvPr>
        </p:nvSpPr>
        <p:spPr/>
        <p:txBody>
          <a:bodyPr>
            <a:normAutofit fontScale="25000" lnSpcReduction="20000"/>
          </a:bodyPr>
          <a:lstStyle/>
          <a:p>
            <a:pPr marL="0" indent="0">
              <a:buNone/>
            </a:pPr>
            <a:r>
              <a:rPr lang="en-US" sz="11200" dirty="0">
                <a:solidFill>
                  <a:srgbClr val="FF0000"/>
                </a:solidFill>
              </a:rPr>
              <a:t>Problem</a:t>
            </a:r>
          </a:p>
          <a:p>
            <a:pPr marL="0" indent="0">
              <a:buNone/>
            </a:pPr>
            <a:endParaRPr lang="en-US" dirty="0"/>
          </a:p>
          <a:p>
            <a:pPr marL="0" indent="0">
              <a:buNone/>
            </a:pPr>
            <a:r>
              <a:rPr lang="en-US" sz="11200" dirty="0"/>
              <a:t> Presence of coliform bacteria </a:t>
            </a:r>
          </a:p>
          <a:p>
            <a:pPr marL="0" indent="0">
              <a:buNone/>
            </a:pPr>
            <a:r>
              <a:rPr lang="en-US" sz="11200" dirty="0"/>
              <a:t>•Presence of excess Iron in drinking water</a:t>
            </a:r>
          </a:p>
          <a:p>
            <a:pPr marL="0" indent="0">
              <a:buNone/>
            </a:pPr>
            <a:r>
              <a:rPr lang="en-US" sz="11200" dirty="0"/>
              <a:t>•Presence of organic matter </a:t>
            </a:r>
          </a:p>
          <a:p>
            <a:pPr marL="0" indent="0">
              <a:buNone/>
            </a:pPr>
            <a:r>
              <a:rPr lang="en-US" sz="11200" dirty="0"/>
              <a:t>•Low pH and in rare cases high pH</a:t>
            </a:r>
          </a:p>
          <a:p>
            <a:pPr marL="0" indent="0">
              <a:buNone/>
            </a:pPr>
            <a:r>
              <a:rPr lang="en-US" sz="11200" dirty="0"/>
              <a:t>•growth of algae</a:t>
            </a:r>
          </a:p>
          <a:p>
            <a:pPr marL="0" indent="0">
              <a:buNone/>
            </a:pPr>
            <a:endParaRPr lang="en-IN" sz="11200" dirty="0"/>
          </a:p>
        </p:txBody>
      </p:sp>
      <p:sp>
        <p:nvSpPr>
          <p:cNvPr id="4" name="Content Placeholder 3"/>
          <p:cNvSpPr>
            <a:spLocks noGrp="1"/>
          </p:cNvSpPr>
          <p:nvPr>
            <p:ph sz="half" idx="2"/>
          </p:nvPr>
        </p:nvSpPr>
        <p:spPr/>
        <p:txBody>
          <a:bodyPr>
            <a:normAutofit fontScale="25000" lnSpcReduction="20000"/>
          </a:bodyPr>
          <a:lstStyle/>
          <a:p>
            <a:endParaRPr lang="en-US" dirty="0"/>
          </a:p>
          <a:p>
            <a:r>
              <a:rPr lang="en-US" sz="11200" dirty="0">
                <a:solidFill>
                  <a:srgbClr val="FF0000"/>
                </a:solidFill>
              </a:rPr>
              <a:t>Solution</a:t>
            </a:r>
          </a:p>
          <a:p>
            <a:endParaRPr lang="en-US" dirty="0"/>
          </a:p>
          <a:p>
            <a:r>
              <a:rPr lang="en-US" sz="5900" dirty="0"/>
              <a:t>. </a:t>
            </a:r>
            <a:r>
              <a:rPr lang="en-US" sz="11200" dirty="0"/>
              <a:t>Pollution potential will be less compared to urban area</a:t>
            </a:r>
          </a:p>
          <a:p>
            <a:r>
              <a:rPr lang="en-US" sz="11200" dirty="0"/>
              <a:t>. Effective maintenance of water supply system and other water sources are relevant.</a:t>
            </a:r>
          </a:p>
          <a:p>
            <a:r>
              <a:rPr lang="en-US" sz="11200" dirty="0"/>
              <a:t> Roof top Rain water harvesting and artificial recharge is relevant to control pollution</a:t>
            </a:r>
            <a:endParaRPr lang="en-IN" sz="11200" dirty="0"/>
          </a:p>
        </p:txBody>
      </p:sp>
    </p:spTree>
    <p:extLst>
      <p:ext uri="{BB962C8B-B14F-4D97-AF65-F5344CB8AC3E}">
        <p14:creationId xmlns:p14="http://schemas.microsoft.com/office/powerpoint/2010/main" val="40668662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Industrial area </a:t>
            </a:r>
          </a:p>
        </p:txBody>
      </p:sp>
      <p:sp>
        <p:nvSpPr>
          <p:cNvPr id="3" name="Content Placeholder 2"/>
          <p:cNvSpPr>
            <a:spLocks noGrp="1"/>
          </p:cNvSpPr>
          <p:nvPr>
            <p:ph sz="half" idx="1"/>
          </p:nvPr>
        </p:nvSpPr>
        <p:spPr/>
        <p:txBody>
          <a:bodyPr>
            <a:normAutofit fontScale="77500" lnSpcReduction="20000"/>
          </a:bodyPr>
          <a:lstStyle/>
          <a:p>
            <a:r>
              <a:rPr lang="en-US" sz="3600" dirty="0">
                <a:solidFill>
                  <a:srgbClr val="FF0000"/>
                </a:solidFill>
              </a:rPr>
              <a:t>Problem </a:t>
            </a:r>
          </a:p>
          <a:p>
            <a:r>
              <a:rPr lang="en-US" sz="3300" dirty="0"/>
              <a:t>Pollution from discharge of industrial pollutants.</a:t>
            </a:r>
          </a:p>
          <a:p>
            <a:r>
              <a:rPr lang="en-US" sz="3300" dirty="0"/>
              <a:t>. The pollution depends on the type of industry and its waste products.</a:t>
            </a:r>
          </a:p>
          <a:p>
            <a:r>
              <a:rPr lang="en-US" sz="3300" dirty="0"/>
              <a:t> Public opposition against such industries are common everywhere. </a:t>
            </a:r>
          </a:p>
          <a:p>
            <a:r>
              <a:rPr lang="en-US" sz="3300" dirty="0"/>
              <a:t>Artificial recharge reduces pollution</a:t>
            </a:r>
          </a:p>
          <a:p>
            <a:endParaRPr lang="en-IN" dirty="0"/>
          </a:p>
        </p:txBody>
      </p:sp>
      <p:sp>
        <p:nvSpPr>
          <p:cNvPr id="4" name="Content Placeholder 3"/>
          <p:cNvSpPr>
            <a:spLocks noGrp="1"/>
          </p:cNvSpPr>
          <p:nvPr>
            <p:ph sz="half" idx="2"/>
          </p:nvPr>
        </p:nvSpPr>
        <p:spPr/>
        <p:txBody>
          <a:bodyPr>
            <a:normAutofit fontScale="77500" lnSpcReduction="20000"/>
          </a:bodyPr>
          <a:lstStyle/>
          <a:p>
            <a:r>
              <a:rPr lang="en-US" sz="3600" dirty="0">
                <a:solidFill>
                  <a:srgbClr val="FF0000"/>
                </a:solidFill>
              </a:rPr>
              <a:t>Solution</a:t>
            </a:r>
          </a:p>
          <a:p>
            <a:r>
              <a:rPr lang="en-US" sz="3600" dirty="0"/>
              <a:t>Limitation is  the practical difficulty to implement  control </a:t>
            </a:r>
            <a:r>
              <a:rPr lang="en-US" sz="3600" dirty="0" err="1"/>
              <a:t>meures</a:t>
            </a:r>
            <a:r>
              <a:rPr lang="en-US" sz="3600" dirty="0"/>
              <a:t> </a:t>
            </a:r>
          </a:p>
          <a:p>
            <a:r>
              <a:rPr lang="en-US" sz="3600" dirty="0"/>
              <a:t> Role of pollution control board is relevant. </a:t>
            </a:r>
          </a:p>
          <a:p>
            <a:r>
              <a:rPr lang="en-US" sz="3600" dirty="0"/>
              <a:t>Effective water supply system is an interim solution.</a:t>
            </a:r>
            <a:endParaRPr lang="en-IN" sz="3600" dirty="0"/>
          </a:p>
        </p:txBody>
      </p:sp>
    </p:spTree>
    <p:extLst>
      <p:ext uri="{BB962C8B-B14F-4D97-AF65-F5344CB8AC3E}">
        <p14:creationId xmlns:p14="http://schemas.microsoft.com/office/powerpoint/2010/main" val="24773372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Geographically Specific Area</a:t>
            </a:r>
          </a:p>
        </p:txBody>
      </p:sp>
      <p:sp>
        <p:nvSpPr>
          <p:cNvPr id="3" name="Content Placeholder 2"/>
          <p:cNvSpPr>
            <a:spLocks noGrp="1"/>
          </p:cNvSpPr>
          <p:nvPr>
            <p:ph sz="half" idx="1"/>
          </p:nvPr>
        </p:nvSpPr>
        <p:spPr/>
        <p:txBody>
          <a:bodyPr>
            <a:normAutofit fontScale="85000" lnSpcReduction="10000"/>
          </a:bodyPr>
          <a:lstStyle/>
          <a:p>
            <a:r>
              <a:rPr lang="en-US" sz="3300" dirty="0">
                <a:solidFill>
                  <a:srgbClr val="FF0000"/>
                </a:solidFill>
              </a:rPr>
              <a:t>Problems </a:t>
            </a:r>
          </a:p>
          <a:p>
            <a:r>
              <a:rPr lang="en-US" sz="3200" dirty="0"/>
              <a:t>Alappuzha and Palakkad districts are having high content of Fluoride in the ground water.</a:t>
            </a:r>
          </a:p>
          <a:p>
            <a:r>
              <a:rPr lang="en-US" sz="3200" dirty="0"/>
              <a:t> Ground water in certain area in Palakkad district also contains high content of chloride which is due to the presence of saline soil. </a:t>
            </a:r>
            <a:r>
              <a:rPr lang="en-US" dirty="0"/>
              <a:t>. </a:t>
            </a:r>
            <a:endParaRPr lang="en-IN" dirty="0"/>
          </a:p>
        </p:txBody>
      </p:sp>
      <p:sp>
        <p:nvSpPr>
          <p:cNvPr id="4" name="Content Placeholder 3"/>
          <p:cNvSpPr>
            <a:spLocks noGrp="1"/>
          </p:cNvSpPr>
          <p:nvPr>
            <p:ph sz="half" idx="2"/>
          </p:nvPr>
        </p:nvSpPr>
        <p:spPr/>
        <p:txBody>
          <a:bodyPr>
            <a:normAutofit fontScale="85000" lnSpcReduction="10000"/>
          </a:bodyPr>
          <a:lstStyle/>
          <a:p>
            <a:r>
              <a:rPr lang="en-IN" sz="3300" dirty="0">
                <a:solidFill>
                  <a:srgbClr val="FF0000"/>
                </a:solidFill>
              </a:rPr>
              <a:t>Solutions </a:t>
            </a:r>
          </a:p>
          <a:p>
            <a:r>
              <a:rPr lang="en-IN" dirty="0"/>
              <a:t>Treatment is the only option </a:t>
            </a:r>
          </a:p>
          <a:p>
            <a:r>
              <a:rPr lang="en-IN" dirty="0"/>
              <a:t>Treatment systems are available</a:t>
            </a:r>
          </a:p>
          <a:p>
            <a:r>
              <a:rPr lang="en-IN" dirty="0"/>
              <a:t>Optimize the  treatment like only for drinking water fro fluoride removal </a:t>
            </a:r>
            <a:r>
              <a:rPr lang="en-IN" dirty="0" err="1"/>
              <a:t>etc</a:t>
            </a:r>
            <a:r>
              <a:rPr lang="en-IN" dirty="0"/>
              <a:t> </a:t>
            </a:r>
          </a:p>
          <a:p>
            <a:r>
              <a:rPr lang="en-IN" dirty="0"/>
              <a:t>Government / NGO initiatives  to supply water treatment equipment at less cost is ideal </a:t>
            </a:r>
          </a:p>
          <a:p>
            <a:r>
              <a:rPr lang="en-IN" dirty="0"/>
              <a:t>Awareness is essential </a:t>
            </a:r>
          </a:p>
          <a:p>
            <a:endParaRPr lang="en-IN" dirty="0"/>
          </a:p>
        </p:txBody>
      </p:sp>
    </p:spTree>
    <p:extLst>
      <p:ext uri="{BB962C8B-B14F-4D97-AF65-F5344CB8AC3E}">
        <p14:creationId xmlns:p14="http://schemas.microsoft.com/office/powerpoint/2010/main" val="34999558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Less Populated Rural Area</a:t>
            </a:r>
            <a:endParaRPr lang="en-IN" dirty="0"/>
          </a:p>
        </p:txBody>
      </p:sp>
      <p:sp>
        <p:nvSpPr>
          <p:cNvPr id="3" name="Content Placeholder 2"/>
          <p:cNvSpPr>
            <a:spLocks noGrp="1"/>
          </p:cNvSpPr>
          <p:nvPr>
            <p:ph idx="1"/>
          </p:nvPr>
        </p:nvSpPr>
        <p:spPr/>
        <p:txBody>
          <a:bodyPr/>
          <a:lstStyle/>
          <a:p>
            <a:r>
              <a:rPr lang="en-IN" dirty="0"/>
              <a:t>This is the most healthy area </a:t>
            </a:r>
          </a:p>
          <a:p>
            <a:r>
              <a:rPr lang="en-IN" dirty="0"/>
              <a:t>Well maintenance principles need be observed </a:t>
            </a:r>
          </a:p>
          <a:p>
            <a:r>
              <a:rPr lang="en-IN" dirty="0"/>
              <a:t>However individual problems to be  identified and resolved </a:t>
            </a:r>
          </a:p>
        </p:txBody>
      </p:sp>
    </p:spTree>
    <p:extLst>
      <p:ext uri="{BB962C8B-B14F-4D97-AF65-F5344CB8AC3E}">
        <p14:creationId xmlns:p14="http://schemas.microsoft.com/office/powerpoint/2010/main" val="129266141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Government initiatives </a:t>
            </a:r>
          </a:p>
        </p:txBody>
      </p:sp>
      <p:sp>
        <p:nvSpPr>
          <p:cNvPr id="3" name="Content Placeholder 2"/>
          <p:cNvSpPr>
            <a:spLocks noGrp="1"/>
          </p:cNvSpPr>
          <p:nvPr>
            <p:ph sz="half" idx="1"/>
          </p:nvPr>
        </p:nvSpPr>
        <p:spPr>
          <a:xfrm>
            <a:off x="457200" y="1340768"/>
            <a:ext cx="4038600" cy="4785395"/>
          </a:xfrm>
        </p:spPr>
        <p:txBody>
          <a:bodyPr>
            <a:normAutofit fontScale="32500" lnSpcReduction="20000"/>
          </a:bodyPr>
          <a:lstStyle/>
          <a:p>
            <a:pPr marL="0" indent="0">
              <a:buNone/>
            </a:pPr>
            <a:r>
              <a:rPr lang="en-US" dirty="0"/>
              <a:t>•</a:t>
            </a:r>
            <a:endParaRPr lang="en-US" sz="8600" dirty="0"/>
          </a:p>
          <a:p>
            <a:pPr marL="0" indent="0">
              <a:buNone/>
            </a:pPr>
            <a:r>
              <a:rPr lang="en-US" sz="8600" dirty="0"/>
              <a:t>•	Creating more awareness among the people on the preservation of water resources and treatment </a:t>
            </a:r>
          </a:p>
          <a:p>
            <a:pPr marL="0" indent="0">
              <a:buNone/>
            </a:pPr>
            <a:r>
              <a:rPr lang="en-US" sz="8600" dirty="0"/>
              <a:t>•Popularizing all types of water treatment equipment and methods  among the people 	</a:t>
            </a:r>
            <a:r>
              <a:rPr lang="en-US" sz="4000" dirty="0"/>
              <a:t>	</a:t>
            </a:r>
            <a:endParaRPr lang="en-IN" sz="4000" dirty="0"/>
          </a:p>
        </p:txBody>
      </p:sp>
      <p:sp>
        <p:nvSpPr>
          <p:cNvPr id="4" name="Content Placeholder 3"/>
          <p:cNvSpPr>
            <a:spLocks noGrp="1"/>
          </p:cNvSpPr>
          <p:nvPr>
            <p:ph sz="half" idx="2"/>
          </p:nvPr>
        </p:nvSpPr>
        <p:spPr>
          <a:xfrm>
            <a:off x="4648200" y="1196752"/>
            <a:ext cx="4038600" cy="5400600"/>
          </a:xfrm>
        </p:spPr>
        <p:txBody>
          <a:bodyPr>
            <a:noAutofit/>
          </a:bodyPr>
          <a:lstStyle/>
          <a:p>
            <a:pPr>
              <a:buFont typeface="Wingdings" pitchFamily="2" charset="2"/>
              <a:buChar char="§"/>
            </a:pPr>
            <a:r>
              <a:rPr lang="en-US" dirty="0"/>
              <a:t>  open  market to avoid exploitation  of high  profit seeking groups  </a:t>
            </a:r>
          </a:p>
          <a:p>
            <a:pPr marL="0" indent="0">
              <a:buNone/>
            </a:pPr>
            <a:r>
              <a:rPr lang="en-US" dirty="0"/>
              <a:t>•Increase  the minimum land area requirement  for construction of residential buildings should be increased  to   10 cents </a:t>
            </a:r>
          </a:p>
          <a:p>
            <a:endParaRPr lang="en-US" dirty="0"/>
          </a:p>
          <a:p>
            <a:endParaRPr lang="en-IN" dirty="0"/>
          </a:p>
        </p:txBody>
      </p:sp>
    </p:spTree>
    <p:extLst>
      <p:ext uri="{BB962C8B-B14F-4D97-AF65-F5344CB8AC3E}">
        <p14:creationId xmlns:p14="http://schemas.microsoft.com/office/powerpoint/2010/main" val="281727493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Commercial market for water treatment equipment </a:t>
            </a:r>
          </a:p>
        </p:txBody>
      </p:sp>
      <p:sp>
        <p:nvSpPr>
          <p:cNvPr id="3" name="Content Placeholder 2"/>
          <p:cNvSpPr>
            <a:spLocks noGrp="1"/>
          </p:cNvSpPr>
          <p:nvPr>
            <p:ph idx="1"/>
          </p:nvPr>
        </p:nvSpPr>
        <p:spPr/>
        <p:txBody>
          <a:bodyPr/>
          <a:lstStyle/>
          <a:p>
            <a:r>
              <a:rPr lang="en-IN" dirty="0"/>
              <a:t>Market is large and constantly growing</a:t>
            </a:r>
          </a:p>
          <a:p>
            <a:r>
              <a:rPr lang="en-IN" dirty="0"/>
              <a:t>Many companies like </a:t>
            </a:r>
            <a:r>
              <a:rPr lang="en-IN" dirty="0" err="1"/>
              <a:t>aquaguard</a:t>
            </a:r>
            <a:r>
              <a:rPr lang="en-IN" dirty="0"/>
              <a:t> , </a:t>
            </a:r>
            <a:r>
              <a:rPr lang="en-IN" dirty="0" err="1"/>
              <a:t>kent,havels</a:t>
            </a:r>
            <a:r>
              <a:rPr lang="en-IN" dirty="0"/>
              <a:t> ,</a:t>
            </a:r>
            <a:r>
              <a:rPr lang="en-IN" dirty="0" err="1"/>
              <a:t>livepure</a:t>
            </a:r>
            <a:r>
              <a:rPr lang="en-IN" dirty="0"/>
              <a:t> ,AO smith ,Blue </a:t>
            </a:r>
            <a:r>
              <a:rPr lang="en-IN" dirty="0" err="1"/>
              <a:t>star,water</a:t>
            </a:r>
            <a:r>
              <a:rPr lang="en-IN" dirty="0"/>
              <a:t> doctor ,and many others </a:t>
            </a:r>
          </a:p>
          <a:p>
            <a:r>
              <a:rPr lang="en-IN" dirty="0"/>
              <a:t>Naturally </a:t>
            </a:r>
            <a:r>
              <a:rPr lang="en-IN" dirty="0">
                <a:solidFill>
                  <a:srgbClr val="FF0000"/>
                </a:solidFill>
              </a:rPr>
              <a:t>profit motivated </a:t>
            </a:r>
          </a:p>
          <a:p>
            <a:r>
              <a:rPr lang="en-IN" dirty="0"/>
              <a:t>Imported materials are generally used </a:t>
            </a:r>
          </a:p>
          <a:p>
            <a:r>
              <a:rPr lang="en-IN" dirty="0"/>
              <a:t>Limited research in our country </a:t>
            </a:r>
          </a:p>
          <a:p>
            <a:r>
              <a:rPr lang="en-IN" dirty="0"/>
              <a:t>Many equipment are </a:t>
            </a:r>
            <a:r>
              <a:rPr lang="en-IN" dirty="0" err="1"/>
              <a:t>worthful</a:t>
            </a:r>
            <a:r>
              <a:rPr lang="en-IN" dirty="0"/>
              <a:t> to be used </a:t>
            </a:r>
          </a:p>
        </p:txBody>
      </p:sp>
    </p:spTree>
    <p:extLst>
      <p:ext uri="{BB962C8B-B14F-4D97-AF65-F5344CB8AC3E}">
        <p14:creationId xmlns:p14="http://schemas.microsoft.com/office/powerpoint/2010/main" val="82549718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Equipment Based on Reverse Osmosis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916832"/>
            <a:ext cx="7416824"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240545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8800" dirty="0"/>
              <a:t>Thank you </a:t>
            </a:r>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6630801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1867</TotalTime>
  <Words>1082</Words>
  <Application>Microsoft Office PowerPoint</Application>
  <PresentationFormat>On-screen Show (4:3)</PresentationFormat>
  <Paragraphs>194</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CONSERVATION OF TRADITIONAL WATER SOURCES OF KERALA </vt:lpstr>
      <vt:lpstr>Main Focus </vt:lpstr>
      <vt:lpstr>Conservation </vt:lpstr>
      <vt:lpstr>Traditional water sources </vt:lpstr>
      <vt:lpstr>River </vt:lpstr>
      <vt:lpstr>Ponds </vt:lpstr>
      <vt:lpstr>Wells and bore wells </vt:lpstr>
      <vt:lpstr>Remedies </vt:lpstr>
      <vt:lpstr>General water quality issues in the state affecting wells / other Sources </vt:lpstr>
      <vt:lpstr>House and the surroundings </vt:lpstr>
      <vt:lpstr>House and Surroundings </vt:lpstr>
      <vt:lpstr>Environmental planning of house and surroundings </vt:lpstr>
      <vt:lpstr>Continued </vt:lpstr>
      <vt:lpstr>Continued </vt:lpstr>
      <vt:lpstr>Eco friendly &amp;Eco enemy  house </vt:lpstr>
      <vt:lpstr>Well maintenance  </vt:lpstr>
      <vt:lpstr>PowerPoint Presentation</vt:lpstr>
      <vt:lpstr>Well platform and Almira</vt:lpstr>
      <vt:lpstr>PowerPoint Presentation</vt:lpstr>
      <vt:lpstr>Continued </vt:lpstr>
      <vt:lpstr>PowerPoint Presentation</vt:lpstr>
      <vt:lpstr>Zones in the state based on Pollution Potential</vt:lpstr>
      <vt:lpstr>PowerPoint Presentation</vt:lpstr>
      <vt:lpstr>Remedies </vt:lpstr>
      <vt:lpstr>Coastal area </vt:lpstr>
      <vt:lpstr>Thickly populated urban area </vt:lpstr>
      <vt:lpstr>Thickly Populated Rural Area</vt:lpstr>
      <vt:lpstr>Industrial area </vt:lpstr>
      <vt:lpstr>Geographically Specific Area</vt:lpstr>
      <vt:lpstr> Less Populated Rural Area</vt:lpstr>
      <vt:lpstr>Government initiatives </vt:lpstr>
      <vt:lpstr>Commercial market for water treatment equipment </vt:lpstr>
      <vt:lpstr>Equipment Based on Reverse Osmosis</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CONSERVATION OF TRADITIONAL WATER SOURCES OF KERALA</dc:title>
  <dc:creator>DELL</dc:creator>
  <cp:lastModifiedBy>USER</cp:lastModifiedBy>
  <cp:revision>49</cp:revision>
  <dcterms:created xsi:type="dcterms:W3CDTF">2019-09-14T11:17:07Z</dcterms:created>
  <dcterms:modified xsi:type="dcterms:W3CDTF">2026-08-02T06:31:46Z</dcterms:modified>
</cp:coreProperties>
</file>