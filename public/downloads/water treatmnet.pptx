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3" r:id="rId4"/>
    <p:sldId id="257" r:id="rId5"/>
    <p:sldId id="258" r:id="rId6"/>
    <p:sldId id="272" r:id="rId7"/>
    <p:sldId id="270" r:id="rId8"/>
    <p:sldId id="306" r:id="rId9"/>
    <p:sldId id="274" r:id="rId10"/>
    <p:sldId id="275" r:id="rId11"/>
    <p:sldId id="276" r:id="rId12"/>
    <p:sldId id="259" r:id="rId13"/>
    <p:sldId id="286" r:id="rId14"/>
    <p:sldId id="260" r:id="rId15"/>
    <p:sldId id="261" r:id="rId16"/>
    <p:sldId id="265" r:id="rId17"/>
    <p:sldId id="284" r:id="rId18"/>
    <p:sldId id="278" r:id="rId19"/>
    <p:sldId id="268" r:id="rId20"/>
    <p:sldId id="271" r:id="rId21"/>
    <p:sldId id="279" r:id="rId22"/>
    <p:sldId id="281" r:id="rId23"/>
    <p:sldId id="282" r:id="rId24"/>
    <p:sldId id="307" r:id="rId25"/>
    <p:sldId id="283" r:id="rId26"/>
    <p:sldId id="285" r:id="rId27"/>
    <p:sldId id="287" r:id="rId28"/>
    <p:sldId id="288" r:id="rId29"/>
    <p:sldId id="289" r:id="rId30"/>
    <p:sldId id="290" r:id="rId31"/>
    <p:sldId id="293" r:id="rId32"/>
    <p:sldId id="301"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2" d="100"/>
          <a:sy n="72" d="100"/>
        </p:scale>
        <p:origin x="-1096" y="22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344B73F-FADE-435F-ABA2-FBFAE2670610}" type="datetimeFigureOut">
              <a:rPr lang="en-IN" smtClean="0"/>
              <a:t>08-01-2026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F01ABA-66DB-4835-8FA7-F6DB52356A67}" type="slidenum">
              <a:rPr lang="en-IN" smtClean="0"/>
              <a:t>‹#›</a:t>
            </a:fld>
            <a:endParaRPr lang="en-IN"/>
          </a:p>
        </p:txBody>
      </p:sp>
    </p:spTree>
    <p:extLst>
      <p:ext uri="{BB962C8B-B14F-4D97-AF65-F5344CB8AC3E}">
        <p14:creationId xmlns:p14="http://schemas.microsoft.com/office/powerpoint/2010/main" val="40232277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344B73F-FADE-435F-ABA2-FBFAE2670610}" type="datetimeFigureOut">
              <a:rPr lang="en-IN" smtClean="0"/>
              <a:t>08-01-2026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F01ABA-66DB-4835-8FA7-F6DB52356A67}" type="slidenum">
              <a:rPr lang="en-IN" smtClean="0"/>
              <a:t>‹#›</a:t>
            </a:fld>
            <a:endParaRPr lang="en-IN"/>
          </a:p>
        </p:txBody>
      </p:sp>
    </p:spTree>
    <p:extLst>
      <p:ext uri="{BB962C8B-B14F-4D97-AF65-F5344CB8AC3E}">
        <p14:creationId xmlns:p14="http://schemas.microsoft.com/office/powerpoint/2010/main" val="28413713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344B73F-FADE-435F-ABA2-FBFAE2670610}" type="datetimeFigureOut">
              <a:rPr lang="en-IN" smtClean="0"/>
              <a:t>08-01-2026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F01ABA-66DB-4835-8FA7-F6DB52356A67}" type="slidenum">
              <a:rPr lang="en-IN" smtClean="0"/>
              <a:t>‹#›</a:t>
            </a:fld>
            <a:endParaRPr lang="en-IN"/>
          </a:p>
        </p:txBody>
      </p:sp>
    </p:spTree>
    <p:extLst>
      <p:ext uri="{BB962C8B-B14F-4D97-AF65-F5344CB8AC3E}">
        <p14:creationId xmlns:p14="http://schemas.microsoft.com/office/powerpoint/2010/main" val="5085059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344B73F-FADE-435F-ABA2-FBFAE2670610}" type="datetimeFigureOut">
              <a:rPr lang="en-IN" smtClean="0"/>
              <a:t>08-01-2026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F01ABA-66DB-4835-8FA7-F6DB52356A67}" type="slidenum">
              <a:rPr lang="en-IN" smtClean="0"/>
              <a:t>‹#›</a:t>
            </a:fld>
            <a:endParaRPr lang="en-IN"/>
          </a:p>
        </p:txBody>
      </p:sp>
    </p:spTree>
    <p:extLst>
      <p:ext uri="{BB962C8B-B14F-4D97-AF65-F5344CB8AC3E}">
        <p14:creationId xmlns:p14="http://schemas.microsoft.com/office/powerpoint/2010/main" val="8916196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344B73F-FADE-435F-ABA2-FBFAE2670610}" type="datetimeFigureOut">
              <a:rPr lang="en-IN" smtClean="0"/>
              <a:t>08-01-2026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CF01ABA-66DB-4835-8FA7-F6DB52356A67}" type="slidenum">
              <a:rPr lang="en-IN" smtClean="0"/>
              <a:t>‹#›</a:t>
            </a:fld>
            <a:endParaRPr lang="en-IN"/>
          </a:p>
        </p:txBody>
      </p:sp>
    </p:spTree>
    <p:extLst>
      <p:ext uri="{BB962C8B-B14F-4D97-AF65-F5344CB8AC3E}">
        <p14:creationId xmlns:p14="http://schemas.microsoft.com/office/powerpoint/2010/main" val="3479067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344B73F-FADE-435F-ABA2-FBFAE2670610}" type="datetimeFigureOut">
              <a:rPr lang="en-IN" smtClean="0"/>
              <a:t>08-01-2026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CF01ABA-66DB-4835-8FA7-F6DB52356A67}" type="slidenum">
              <a:rPr lang="en-IN" smtClean="0"/>
              <a:t>‹#›</a:t>
            </a:fld>
            <a:endParaRPr lang="en-IN"/>
          </a:p>
        </p:txBody>
      </p:sp>
    </p:spTree>
    <p:extLst>
      <p:ext uri="{BB962C8B-B14F-4D97-AF65-F5344CB8AC3E}">
        <p14:creationId xmlns:p14="http://schemas.microsoft.com/office/powerpoint/2010/main" val="42869896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44B73F-FADE-435F-ABA2-FBFAE2670610}" type="datetimeFigureOut">
              <a:rPr lang="en-IN" smtClean="0"/>
              <a:t>08-01-2026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CF01ABA-66DB-4835-8FA7-F6DB52356A67}" type="slidenum">
              <a:rPr lang="en-IN" smtClean="0"/>
              <a:t>‹#›</a:t>
            </a:fld>
            <a:endParaRPr lang="en-IN"/>
          </a:p>
        </p:txBody>
      </p:sp>
    </p:spTree>
    <p:extLst>
      <p:ext uri="{BB962C8B-B14F-4D97-AF65-F5344CB8AC3E}">
        <p14:creationId xmlns:p14="http://schemas.microsoft.com/office/powerpoint/2010/main" val="24457301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344B73F-FADE-435F-ABA2-FBFAE2670610}" type="datetimeFigureOut">
              <a:rPr lang="en-IN" smtClean="0"/>
              <a:t>08-01-2026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F01ABA-66DB-4835-8FA7-F6DB52356A67}" type="slidenum">
              <a:rPr lang="en-IN" smtClean="0"/>
              <a:t>‹#›</a:t>
            </a:fld>
            <a:endParaRPr lang="en-IN"/>
          </a:p>
        </p:txBody>
      </p:sp>
    </p:spTree>
    <p:extLst>
      <p:ext uri="{BB962C8B-B14F-4D97-AF65-F5344CB8AC3E}">
        <p14:creationId xmlns:p14="http://schemas.microsoft.com/office/powerpoint/2010/main" val="24979122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344B73F-FADE-435F-ABA2-FBFAE2670610}" type="datetimeFigureOut">
              <a:rPr lang="en-IN" smtClean="0"/>
              <a:t>08-01-2026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F01ABA-66DB-4835-8FA7-F6DB52356A67}" type="slidenum">
              <a:rPr lang="en-IN" smtClean="0"/>
              <a:t>‹#›</a:t>
            </a:fld>
            <a:endParaRPr lang="en-IN"/>
          </a:p>
        </p:txBody>
      </p:sp>
    </p:spTree>
    <p:extLst>
      <p:ext uri="{BB962C8B-B14F-4D97-AF65-F5344CB8AC3E}">
        <p14:creationId xmlns:p14="http://schemas.microsoft.com/office/powerpoint/2010/main" val="1944713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344B73F-FADE-435F-ABA2-FBFAE2670610}" type="datetimeFigureOut">
              <a:rPr lang="en-IN" smtClean="0"/>
              <a:t>08-01-2026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F01ABA-66DB-4835-8FA7-F6DB52356A67}" type="slidenum">
              <a:rPr lang="en-IN" smtClean="0"/>
              <a:t>‹#›</a:t>
            </a:fld>
            <a:endParaRPr lang="en-IN"/>
          </a:p>
        </p:txBody>
      </p:sp>
    </p:spTree>
    <p:extLst>
      <p:ext uri="{BB962C8B-B14F-4D97-AF65-F5344CB8AC3E}">
        <p14:creationId xmlns:p14="http://schemas.microsoft.com/office/powerpoint/2010/main" val="2821820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344B73F-FADE-435F-ABA2-FBFAE2670610}" type="datetimeFigureOut">
              <a:rPr lang="en-IN" smtClean="0"/>
              <a:t>08-01-2026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F01ABA-66DB-4835-8FA7-F6DB52356A67}" type="slidenum">
              <a:rPr lang="en-IN" smtClean="0"/>
              <a:t>‹#›</a:t>
            </a:fld>
            <a:endParaRPr lang="en-IN"/>
          </a:p>
        </p:txBody>
      </p:sp>
    </p:spTree>
    <p:extLst>
      <p:ext uri="{BB962C8B-B14F-4D97-AF65-F5344CB8AC3E}">
        <p14:creationId xmlns:p14="http://schemas.microsoft.com/office/powerpoint/2010/main" val="34178276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44B73F-FADE-435F-ABA2-FBFAE2670610}" type="datetimeFigureOut">
              <a:rPr lang="en-IN" smtClean="0"/>
              <a:t>08-01-2026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F01ABA-66DB-4835-8FA7-F6DB52356A67}" type="slidenum">
              <a:rPr lang="en-IN" smtClean="0"/>
              <a:t>‹#›</a:t>
            </a:fld>
            <a:endParaRPr lang="en-IN"/>
          </a:p>
        </p:txBody>
      </p:sp>
    </p:spTree>
    <p:extLst>
      <p:ext uri="{BB962C8B-B14F-4D97-AF65-F5344CB8AC3E}">
        <p14:creationId xmlns:p14="http://schemas.microsoft.com/office/powerpoint/2010/main" val="28851878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Commercial water treatment</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14192857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COMMERCAL QUIPMENTS FOR WATER  TREATMENT</a:t>
            </a:r>
            <a:br>
              <a:rPr lang="en-US" dirty="0" smtClean="0"/>
            </a:br>
            <a:endParaRPr lang="en-IN" dirty="0"/>
          </a:p>
        </p:txBody>
      </p:sp>
      <p:sp>
        <p:nvSpPr>
          <p:cNvPr id="3" name="Content Placeholder 2"/>
          <p:cNvSpPr>
            <a:spLocks noGrp="1"/>
          </p:cNvSpPr>
          <p:nvPr>
            <p:ph idx="1"/>
          </p:nvPr>
        </p:nvSpPr>
        <p:spPr/>
        <p:txBody>
          <a:bodyPr>
            <a:normAutofit fontScale="77500" lnSpcReduction="20000"/>
          </a:bodyPr>
          <a:lstStyle/>
          <a:p>
            <a:r>
              <a:rPr lang="en-US" dirty="0" smtClean="0"/>
              <a:t>In commercial methods different types filtering models are used for the filtration process. These  filtering models are mainly produced by different  companies.</a:t>
            </a:r>
          </a:p>
          <a:p>
            <a:r>
              <a:rPr lang="en-US" dirty="0" smtClean="0"/>
              <a:t>The topmost companies which produces the filters are:</a:t>
            </a:r>
          </a:p>
          <a:p>
            <a:r>
              <a:rPr lang="en-US" dirty="0" smtClean="0"/>
              <a:t>KENT</a:t>
            </a:r>
          </a:p>
          <a:p>
            <a:r>
              <a:rPr lang="en-US" dirty="0" smtClean="0"/>
              <a:t>HAVELLS MAX</a:t>
            </a:r>
          </a:p>
          <a:p>
            <a:r>
              <a:rPr lang="en-US" dirty="0" smtClean="0"/>
              <a:t>LIVPURE</a:t>
            </a:r>
          </a:p>
          <a:p>
            <a:r>
              <a:rPr lang="en-US" dirty="0" smtClean="0"/>
              <a:t>BLUE STAR</a:t>
            </a:r>
          </a:p>
          <a:p>
            <a:r>
              <a:rPr lang="en-US" dirty="0" smtClean="0"/>
              <a:t>AQUAGUARD</a:t>
            </a:r>
          </a:p>
          <a:p>
            <a:r>
              <a:rPr lang="en-US" dirty="0" smtClean="0"/>
              <a:t>PUREIT</a:t>
            </a:r>
          </a:p>
          <a:p>
            <a:r>
              <a:rPr lang="en-US" dirty="0" smtClean="0"/>
              <a:t>AO SMITH</a:t>
            </a:r>
          </a:p>
          <a:p>
            <a:r>
              <a:rPr lang="en-US" dirty="0" smtClean="0"/>
              <a:t>WATER DOCTOR- and so many </a:t>
            </a:r>
          </a:p>
          <a:p>
            <a:endParaRPr lang="en-IN" dirty="0"/>
          </a:p>
        </p:txBody>
      </p:sp>
    </p:spTree>
    <p:extLst>
      <p:ext uri="{BB962C8B-B14F-4D97-AF65-F5344CB8AC3E}">
        <p14:creationId xmlns:p14="http://schemas.microsoft.com/office/powerpoint/2010/main" val="182475075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Various equipment are</a:t>
            </a:r>
            <a:endParaRPr lang="en-IN" dirty="0"/>
          </a:p>
        </p:txBody>
      </p:sp>
      <p:sp>
        <p:nvSpPr>
          <p:cNvPr id="3" name="Content Placeholder 2"/>
          <p:cNvSpPr>
            <a:spLocks noGrp="1"/>
          </p:cNvSpPr>
          <p:nvPr>
            <p:ph idx="1"/>
          </p:nvPr>
        </p:nvSpPr>
        <p:spPr/>
        <p:txBody>
          <a:bodyPr>
            <a:normAutofit fontScale="92500" lnSpcReduction="20000"/>
          </a:bodyPr>
          <a:lstStyle/>
          <a:p>
            <a:pPr>
              <a:buFont typeface="Wingdings" pitchFamily="2" charset="2"/>
              <a:buChar char="§"/>
            </a:pPr>
            <a:r>
              <a:rPr lang="en-US" dirty="0" smtClean="0"/>
              <a:t>UV disinfection</a:t>
            </a:r>
          </a:p>
          <a:p>
            <a:pPr>
              <a:buFont typeface="Wingdings" pitchFamily="2" charset="2"/>
              <a:buChar char="§"/>
            </a:pPr>
            <a:r>
              <a:rPr lang="en-US" dirty="0" smtClean="0"/>
              <a:t>Iron removal filters </a:t>
            </a:r>
          </a:p>
          <a:p>
            <a:pPr>
              <a:buFont typeface="Wingdings" pitchFamily="2" charset="2"/>
              <a:buChar char="§"/>
            </a:pPr>
            <a:r>
              <a:rPr lang="en-US" dirty="0" smtClean="0"/>
              <a:t>Sand filters </a:t>
            </a:r>
          </a:p>
          <a:p>
            <a:r>
              <a:rPr lang="en-US" dirty="0" smtClean="0"/>
              <a:t>Softeners</a:t>
            </a:r>
          </a:p>
          <a:p>
            <a:r>
              <a:rPr lang="en-US" dirty="0" smtClean="0"/>
              <a:t>RO filters (Reverse osmosis ) filters</a:t>
            </a:r>
          </a:p>
          <a:p>
            <a:r>
              <a:rPr lang="en-US" dirty="0" smtClean="0"/>
              <a:t>Sand filter</a:t>
            </a:r>
          </a:p>
          <a:p>
            <a:r>
              <a:rPr lang="en-US" dirty="0" smtClean="0"/>
              <a:t>Activated carbon filter </a:t>
            </a:r>
          </a:p>
          <a:p>
            <a:r>
              <a:rPr lang="en-US" dirty="0" smtClean="0"/>
              <a:t>Demineralization</a:t>
            </a:r>
          </a:p>
          <a:p>
            <a:r>
              <a:rPr lang="en-US" dirty="0" smtClean="0"/>
              <a:t>Simple filter and so many equipment </a:t>
            </a:r>
            <a:endParaRPr lang="en-IN" dirty="0"/>
          </a:p>
        </p:txBody>
      </p:sp>
    </p:spTree>
    <p:extLst>
      <p:ext uri="{BB962C8B-B14F-4D97-AF65-F5344CB8AC3E}">
        <p14:creationId xmlns:p14="http://schemas.microsoft.com/office/powerpoint/2010/main" val="107588193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600200"/>
          </a:xfrm>
        </p:spPr>
        <p:txBody>
          <a:bodyPr>
            <a:normAutofit fontScale="90000"/>
          </a:bodyPr>
          <a:lstStyle/>
          <a:p>
            <a:r>
              <a:rPr lang="en-US" dirty="0" smtClean="0"/>
              <a:t>UV filters </a:t>
            </a:r>
            <a:r>
              <a:rPr lang="en-US" sz="2000" dirty="0" smtClean="0"/>
              <a:t>are a type of water filtration system that use ultraviolet light to purify water. They are commonly used in households, as well as in industrial and </a:t>
            </a:r>
            <a:r>
              <a:rPr lang="en-US" sz="2000" dirty="0" err="1" smtClean="0"/>
              <a:t>commercia</a:t>
            </a:r>
            <a:r>
              <a:rPr lang="en-US" sz="2000" dirty="0" smtClean="0"/>
              <a:t> settings to remove harmful microorganisms from the water supply.</a:t>
            </a:r>
            <a:endParaRPr lang="en-IN" sz="2000"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5800" y="2057400"/>
            <a:ext cx="8153400"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8938412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Sand filter</a:t>
            </a:r>
            <a:endParaRPr lang="en-IN"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06631" y="2116526"/>
            <a:ext cx="5730737" cy="3493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6203516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Sand </a:t>
            </a:r>
            <a:r>
              <a:rPr lang="en-US" dirty="0" err="1" smtClean="0"/>
              <a:t>fiter</a:t>
            </a:r>
            <a:r>
              <a:rPr lang="en-US" dirty="0" smtClean="0"/>
              <a:t> </a:t>
            </a:r>
            <a:endParaRPr lang="en-IN" dirty="0"/>
          </a:p>
        </p:txBody>
      </p:sp>
      <p:sp>
        <p:nvSpPr>
          <p:cNvPr id="3" name="Content Placeholder 2"/>
          <p:cNvSpPr>
            <a:spLocks noGrp="1"/>
          </p:cNvSpPr>
          <p:nvPr>
            <p:ph idx="1"/>
          </p:nvPr>
        </p:nvSpPr>
        <p:spPr/>
        <p:txBody>
          <a:bodyPr/>
          <a:lstStyle/>
          <a:p>
            <a:r>
              <a:rPr lang="en-US" dirty="0" smtClean="0"/>
              <a:t>Rapid sand filter </a:t>
            </a:r>
          </a:p>
          <a:p>
            <a:r>
              <a:rPr lang="en-US" dirty="0" smtClean="0"/>
              <a:t>Slow sand filter</a:t>
            </a:r>
          </a:p>
          <a:p>
            <a:r>
              <a:rPr lang="en-US" dirty="0" smtClean="0"/>
              <a:t>Pressure sand filter  </a:t>
            </a:r>
            <a:endParaRPr lang="en-IN" dirty="0"/>
          </a:p>
        </p:txBody>
      </p:sp>
    </p:spTree>
    <p:extLst>
      <p:ext uri="{BB962C8B-B14F-4D97-AF65-F5344CB8AC3E}">
        <p14:creationId xmlns:p14="http://schemas.microsoft.com/office/powerpoint/2010/main" val="106270793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4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8600" y="457200"/>
            <a:ext cx="8610600" cy="624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4108095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Anthracite</a:t>
            </a:r>
            <a:endParaRPr lang="en-IN" dirty="0"/>
          </a:p>
        </p:txBody>
      </p:sp>
      <p:sp>
        <p:nvSpPr>
          <p:cNvPr id="3" name="Content Placeholder 2"/>
          <p:cNvSpPr>
            <a:spLocks noGrp="1"/>
          </p:cNvSpPr>
          <p:nvPr>
            <p:ph idx="1"/>
          </p:nvPr>
        </p:nvSpPr>
        <p:spPr/>
        <p:txBody>
          <a:bodyPr/>
          <a:lstStyle/>
          <a:p>
            <a:r>
              <a:rPr lang="en-US" dirty="0"/>
              <a:t>coal of a hard variety that contains relatively pure carbon and burns with little flame and smoke</a:t>
            </a:r>
            <a:endParaRPr lang="en-IN" dirty="0"/>
          </a:p>
        </p:txBody>
      </p:sp>
    </p:spTree>
    <p:extLst>
      <p:ext uri="{BB962C8B-B14F-4D97-AF65-F5344CB8AC3E}">
        <p14:creationId xmlns:p14="http://schemas.microsoft.com/office/powerpoint/2010/main" val="329703196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Activated carbon filter </a:t>
            </a:r>
            <a:endParaRPr lang="en-IN" dirty="0"/>
          </a:p>
        </p:txBody>
      </p:sp>
      <p:sp>
        <p:nvSpPr>
          <p:cNvPr id="3" name="Content Placeholder 2"/>
          <p:cNvSpPr>
            <a:spLocks noGrp="1"/>
          </p:cNvSpPr>
          <p:nvPr>
            <p:ph idx="1"/>
          </p:nvPr>
        </p:nvSpPr>
        <p:spPr/>
        <p:txBody>
          <a:bodyPr/>
          <a:lstStyle/>
          <a:p>
            <a:r>
              <a:rPr lang="en-US" dirty="0" smtClean="0"/>
              <a:t>Activated Carbon Filter (ACF) works on the principle of adsorption, where contaminants are attracted to and stick to the porous surface of the activated carbon material as water passes through.</a:t>
            </a:r>
            <a:endParaRPr lang="en-IN" dirty="0"/>
          </a:p>
        </p:txBody>
      </p:sp>
    </p:spTree>
    <p:extLst>
      <p:ext uri="{BB962C8B-B14F-4D97-AF65-F5344CB8AC3E}">
        <p14:creationId xmlns:p14="http://schemas.microsoft.com/office/powerpoint/2010/main" val="184949677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Activated carbon filter cont. </a:t>
            </a:r>
            <a:endParaRPr lang="en-IN" dirty="0"/>
          </a:p>
        </p:txBody>
      </p:sp>
      <p:sp>
        <p:nvSpPr>
          <p:cNvPr id="3" name="Content Placeholder 2"/>
          <p:cNvSpPr>
            <a:spLocks noGrp="1"/>
          </p:cNvSpPr>
          <p:nvPr>
            <p:ph idx="1"/>
          </p:nvPr>
        </p:nvSpPr>
        <p:spPr/>
        <p:txBody>
          <a:bodyPr>
            <a:normAutofit fontScale="85000" lnSpcReduction="20000"/>
          </a:bodyPr>
          <a:lstStyle/>
          <a:p>
            <a:pPr marL="0" indent="0">
              <a:buNone/>
            </a:pPr>
            <a:endParaRPr lang="ml-IN" dirty="0" smtClean="0"/>
          </a:p>
          <a:p>
            <a:endParaRPr lang="ml-IN" dirty="0" smtClean="0"/>
          </a:p>
          <a:p>
            <a:r>
              <a:rPr lang="ml-IN" dirty="0" smtClean="0"/>
              <a:t>ജലശുദ്ധീകരണ പ്രക്രിയയിൽ കാർബൺ ഫിൽട്ടറുകൾ നിർണായക പങ്ക് വഹിക്കുന്നു, കാരണം അവ വെള്ളത്തിൽ അടങ്ങിയിരിക്കാവുന്ന അനാവശ്യമായ എല്ലാ രാസവസ്തുക്കളെയും ക്ലോറിൻ, കീടനാശിനികൾ, മറ്റ് വോളറ്റൈൽ ഓർഗാനിക് സംയുക്തങ്ങൾ (</a:t>
            </a:r>
            <a:r>
              <a:rPr lang="en-IN" dirty="0" smtClean="0"/>
              <a:t>VOC-</a:t>
            </a:r>
            <a:r>
              <a:rPr lang="ml-IN" dirty="0" smtClean="0"/>
              <a:t>കൾ) പോലുള്ള ജൈവ സംയുക്തങ്ങളെയും നീക്കം ചെയ്യുന്നു.</a:t>
            </a:r>
          </a:p>
          <a:p>
            <a:endParaRPr lang="ml-IN" dirty="0" smtClean="0"/>
          </a:p>
          <a:p>
            <a:endParaRPr lang="en-IN" dirty="0"/>
          </a:p>
        </p:txBody>
      </p:sp>
    </p:spTree>
    <p:extLst>
      <p:ext uri="{BB962C8B-B14F-4D97-AF65-F5344CB8AC3E}">
        <p14:creationId xmlns:p14="http://schemas.microsoft.com/office/powerpoint/2010/main" val="191821005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Activated carbon filter </a:t>
            </a:r>
            <a:r>
              <a:rPr lang="en-US" dirty="0" err="1" smtClean="0"/>
              <a:t>contd</a:t>
            </a:r>
            <a:r>
              <a:rPr lang="en-US" dirty="0" smtClean="0"/>
              <a:t> </a:t>
            </a:r>
            <a:endParaRPr lang="en-IN" dirty="0"/>
          </a:p>
        </p:txBody>
      </p:sp>
      <p:sp>
        <p:nvSpPr>
          <p:cNvPr id="3" name="Content Placeholder 2"/>
          <p:cNvSpPr>
            <a:spLocks noGrp="1"/>
          </p:cNvSpPr>
          <p:nvPr>
            <p:ph idx="1"/>
          </p:nvPr>
        </p:nvSpPr>
        <p:spPr/>
        <p:txBody>
          <a:bodyPr>
            <a:normAutofit fontScale="70000" lnSpcReduction="20000"/>
          </a:bodyPr>
          <a:lstStyle/>
          <a:p>
            <a:r>
              <a:rPr lang="ml-IN" dirty="0" smtClean="0"/>
              <a:t>വെള്ളത്തിന്റെ രുചി മെച്ചപ്പെടുത്തുന്നതിനൊപ്പം, ദുർഗന്ധവും ദുർഗന്ധവും നീക്കം ചെയ്യുന്നതിലും ഇവ ഫലപ്രദമാണ്. വെള്ളം ഒരു കാർബൺ ഫിൽട്ടറിലൂടെ കടന്നുപോകുമ്പോൾ, സജീവമാക്കിയ കാർബൺ കണികകൾ ഈ മാലിന്യങ്ങളെല്ലാം ആഗിരണം ചെയ്യുന്നു, അതോടൊപ്പം മോശം രുചിയും ജൈവ സംയുക്തങ്ങളും ആഗിരണം ചെയ്യുന്നു.</a:t>
            </a:r>
          </a:p>
          <a:p>
            <a:endParaRPr lang="ml-IN" dirty="0" smtClean="0"/>
          </a:p>
          <a:p>
            <a:r>
              <a:rPr lang="en-IN" dirty="0" smtClean="0"/>
              <a:t>RO-</a:t>
            </a:r>
            <a:r>
              <a:rPr lang="ml-IN" dirty="0" smtClean="0"/>
              <a:t>യ്ക്ക് മുമ്പും </a:t>
            </a:r>
            <a:r>
              <a:rPr lang="en-IN" dirty="0" smtClean="0"/>
              <a:t>RO-</a:t>
            </a:r>
            <a:r>
              <a:rPr lang="ml-IN" dirty="0" smtClean="0"/>
              <a:t>യ്ക്ക് ശേഷവുമുള്ള ശുദ്ധീകരണ ഘട്ടങ്ങളിൽ കാർബൺ ഫിൽട്ടറുകൾ ഉപയോഗിക്കുന്നു. ഓരോന്നിന്റെയും പ്രാധാന്യവും ഗുണങ്ങളും നമുക്ക് മനസ്സിലാക്കാം.</a:t>
            </a:r>
            <a:endParaRPr lang="en-IN" dirty="0"/>
          </a:p>
        </p:txBody>
      </p:sp>
    </p:spTree>
    <p:extLst>
      <p:ext uri="{BB962C8B-B14F-4D97-AF65-F5344CB8AC3E}">
        <p14:creationId xmlns:p14="http://schemas.microsoft.com/office/powerpoint/2010/main" val="421246661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Activated carbon filter </a:t>
            </a:r>
            <a:endParaRPr lang="en-IN" dirty="0"/>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66800" y="1600200"/>
            <a:ext cx="4541701"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5305733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Iron </a:t>
            </a:r>
            <a:r>
              <a:rPr lang="en-US" dirty="0" err="1" smtClean="0"/>
              <a:t>remval</a:t>
            </a:r>
            <a:r>
              <a:rPr lang="en-US" dirty="0" smtClean="0"/>
              <a:t> medias </a:t>
            </a:r>
            <a:endParaRPr lang="en-IN" dirty="0"/>
          </a:p>
        </p:txBody>
      </p:sp>
      <p:sp>
        <p:nvSpPr>
          <p:cNvPr id="3" name="Content Placeholder 2"/>
          <p:cNvSpPr>
            <a:spLocks noGrp="1"/>
          </p:cNvSpPr>
          <p:nvPr>
            <p:ph idx="1"/>
          </p:nvPr>
        </p:nvSpPr>
        <p:spPr/>
        <p:txBody>
          <a:bodyPr>
            <a:normAutofit/>
          </a:bodyPr>
          <a:lstStyle/>
          <a:p>
            <a:r>
              <a:rPr lang="ml-IN" dirty="0" smtClean="0"/>
              <a:t>1.0 </a:t>
            </a:r>
            <a:r>
              <a:rPr lang="en-IN" dirty="0" smtClean="0"/>
              <a:t>Manganese Dioxide </a:t>
            </a:r>
          </a:p>
          <a:p>
            <a:r>
              <a:rPr lang="en-IN" dirty="0" smtClean="0"/>
              <a:t>2.0 </a:t>
            </a:r>
            <a:r>
              <a:rPr lang="en-IN" dirty="0" err="1" smtClean="0"/>
              <a:t>catalox</a:t>
            </a:r>
            <a:r>
              <a:rPr lang="en-IN" dirty="0" smtClean="0"/>
              <a:t> </a:t>
            </a:r>
          </a:p>
          <a:p>
            <a:r>
              <a:rPr lang="en-IN" dirty="0" smtClean="0"/>
              <a:t>3.0 </a:t>
            </a:r>
            <a:r>
              <a:rPr lang="en-IN" dirty="0" err="1" smtClean="0"/>
              <a:t>Purolite</a:t>
            </a:r>
            <a:r>
              <a:rPr lang="en-IN" dirty="0" smtClean="0"/>
              <a:t> </a:t>
            </a:r>
          </a:p>
          <a:p>
            <a:r>
              <a:rPr lang="en-IN" dirty="0" smtClean="0"/>
              <a:t>4.0Berm Media </a:t>
            </a:r>
          </a:p>
          <a:p>
            <a:r>
              <a:rPr lang="en-US" dirty="0" smtClean="0"/>
              <a:t>5.0 other suitable medias </a:t>
            </a:r>
            <a:endParaRPr lang="en-IN" dirty="0" smtClean="0"/>
          </a:p>
          <a:p>
            <a:endParaRPr lang="en-IN" dirty="0"/>
          </a:p>
        </p:txBody>
      </p:sp>
    </p:spTree>
    <p:extLst>
      <p:ext uri="{BB962C8B-B14F-4D97-AF65-F5344CB8AC3E}">
        <p14:creationId xmlns:p14="http://schemas.microsoft.com/office/powerpoint/2010/main" val="146833020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099"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3400" y="381000"/>
            <a:ext cx="8534400" cy="624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4633901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3400" y="1524000"/>
            <a:ext cx="7848600" cy="4952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6658164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Properties of iron removal media and the process  </a:t>
            </a:r>
            <a:endParaRPr lang="en-IN" dirty="0"/>
          </a:p>
        </p:txBody>
      </p:sp>
      <p:sp>
        <p:nvSpPr>
          <p:cNvPr id="3" name="Content Placeholder 2"/>
          <p:cNvSpPr>
            <a:spLocks noGrp="1"/>
          </p:cNvSpPr>
          <p:nvPr>
            <p:ph idx="1"/>
          </p:nvPr>
        </p:nvSpPr>
        <p:spPr/>
        <p:txBody>
          <a:bodyPr/>
          <a:lstStyle/>
          <a:p>
            <a:r>
              <a:rPr lang="en-US" dirty="0" smtClean="0"/>
              <a:t>Increasing the pH</a:t>
            </a:r>
          </a:p>
          <a:p>
            <a:r>
              <a:rPr lang="en-US" dirty="0" smtClean="0"/>
              <a:t>Oxidation of ferrous iron to ferric iron </a:t>
            </a:r>
          </a:p>
          <a:p>
            <a:r>
              <a:rPr lang="en-US" dirty="0" smtClean="0"/>
              <a:t>Fe2 +H2O+O2 gives Fe(OH)3 +H+</a:t>
            </a:r>
          </a:p>
          <a:p>
            <a:r>
              <a:rPr lang="en-US" dirty="0" smtClean="0"/>
              <a:t>Filter to remove sediments</a:t>
            </a:r>
          </a:p>
          <a:p>
            <a:r>
              <a:rPr lang="en-US" dirty="0" smtClean="0"/>
              <a:t>Efficiency for each media differs </a:t>
            </a:r>
          </a:p>
          <a:p>
            <a:endParaRPr lang="en-US" dirty="0" smtClean="0"/>
          </a:p>
          <a:p>
            <a:endParaRPr lang="en-US" dirty="0"/>
          </a:p>
          <a:p>
            <a:endParaRPr lang="en-US" dirty="0" smtClean="0"/>
          </a:p>
          <a:p>
            <a:endParaRPr lang="en-IN" dirty="0"/>
          </a:p>
        </p:txBody>
      </p:sp>
    </p:spTree>
    <p:extLst>
      <p:ext uri="{BB962C8B-B14F-4D97-AF65-F5344CB8AC3E}">
        <p14:creationId xmlns:p14="http://schemas.microsoft.com/office/powerpoint/2010/main" val="213539685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Reverse osmosis </a:t>
            </a:r>
            <a:endParaRPr lang="en-IN" dirty="0"/>
          </a:p>
        </p:txBody>
      </p:sp>
      <p:sp>
        <p:nvSpPr>
          <p:cNvPr id="3" name="Content Placeholder 2"/>
          <p:cNvSpPr>
            <a:spLocks noGrp="1"/>
          </p:cNvSpPr>
          <p:nvPr>
            <p:ph idx="1"/>
          </p:nvPr>
        </p:nvSpPr>
        <p:spPr/>
        <p:txBody>
          <a:bodyPr/>
          <a:lstStyle/>
          <a:p>
            <a:r>
              <a:rPr lang="en-US" dirty="0" smtClean="0"/>
              <a:t>Reverse osmosis is a water purification process that uses a semi-permeable membrane to remove contaminants by applying pressure to force water molecules from a high-concentration solution to a low-concentration solution, inverting the natural osmosis process. This method is used for desalination, producing high-quality drinking water, and other industrial applications</a:t>
            </a:r>
            <a:endParaRPr lang="en-IN" dirty="0"/>
          </a:p>
        </p:txBody>
      </p:sp>
    </p:spTree>
    <p:extLst>
      <p:ext uri="{BB962C8B-B14F-4D97-AF65-F5344CB8AC3E}">
        <p14:creationId xmlns:p14="http://schemas.microsoft.com/office/powerpoint/2010/main" val="28543134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Reverse osmosis</a:t>
            </a:r>
            <a:endParaRPr lang="en-IN" dirty="0"/>
          </a:p>
        </p:txBody>
      </p:sp>
      <p:sp>
        <p:nvSpPr>
          <p:cNvPr id="3" name="Content Placeholder 2"/>
          <p:cNvSpPr>
            <a:spLocks noGrp="1"/>
          </p:cNvSpPr>
          <p:nvPr>
            <p:ph idx="1"/>
          </p:nvPr>
        </p:nvSpPr>
        <p:spPr/>
        <p:txBody>
          <a:bodyPr/>
          <a:lstStyle/>
          <a:p>
            <a:r>
              <a:rPr lang="en-US" dirty="0" smtClean="0"/>
              <a:t>Reverse osmosis (RO) is a water purification process that uses a semi-permeable membrane to separate water molecules from other substances.</a:t>
            </a:r>
            <a:endParaRPr lang="en-IN" dirty="0"/>
          </a:p>
        </p:txBody>
      </p:sp>
    </p:spTree>
    <p:extLst>
      <p:ext uri="{BB962C8B-B14F-4D97-AF65-F5344CB8AC3E}">
        <p14:creationId xmlns:p14="http://schemas.microsoft.com/office/powerpoint/2010/main" val="204666233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Reverse Osmosis </a:t>
            </a:r>
            <a:endParaRPr lang="en-IN" dirty="0"/>
          </a:p>
        </p:txBody>
      </p:sp>
      <p:pic>
        <p:nvPicPr>
          <p:cNvPr id="819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5800" y="1371600"/>
            <a:ext cx="7772399"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6520161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 filter </a:t>
            </a:r>
            <a:endParaRPr lang="en-IN" dirty="0"/>
          </a:p>
        </p:txBody>
      </p:sp>
      <p:pic>
        <p:nvPicPr>
          <p:cNvPr id="1126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08000" y="1659731"/>
            <a:ext cx="8128000" cy="440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4310948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Major demerits of reverse osmosis </a:t>
            </a:r>
            <a:endParaRPr lang="en-IN" dirty="0"/>
          </a:p>
        </p:txBody>
      </p:sp>
      <p:sp>
        <p:nvSpPr>
          <p:cNvPr id="3" name="Content Placeholder 2"/>
          <p:cNvSpPr>
            <a:spLocks noGrp="1"/>
          </p:cNvSpPr>
          <p:nvPr>
            <p:ph idx="1"/>
          </p:nvPr>
        </p:nvSpPr>
        <p:spPr/>
        <p:txBody>
          <a:bodyPr/>
          <a:lstStyle/>
          <a:p>
            <a:r>
              <a:rPr lang="en-US" dirty="0" smtClean="0"/>
              <a:t>. </a:t>
            </a:r>
            <a:r>
              <a:rPr lang="en-US" b="1" dirty="0" smtClean="0">
                <a:solidFill>
                  <a:srgbClr val="FF0000"/>
                </a:solidFill>
              </a:rPr>
              <a:t>The main disadvantages </a:t>
            </a:r>
            <a:r>
              <a:rPr lang="en-US" b="1" dirty="0" smtClean="0">
                <a:solidFill>
                  <a:srgbClr val="FF0000"/>
                </a:solidFill>
              </a:rPr>
              <a:t>include</a:t>
            </a:r>
          </a:p>
          <a:p>
            <a:r>
              <a:rPr lang="en-US" b="1" dirty="0" smtClean="0">
                <a:solidFill>
                  <a:srgbClr val="FF0000"/>
                </a:solidFill>
              </a:rPr>
              <a:t> </a:t>
            </a:r>
            <a:r>
              <a:rPr lang="en-US" b="1" dirty="0">
                <a:solidFill>
                  <a:srgbClr val="FF0000"/>
                </a:solidFill>
              </a:rPr>
              <a:t>S</a:t>
            </a:r>
            <a:r>
              <a:rPr lang="en-US" b="1" dirty="0" smtClean="0">
                <a:solidFill>
                  <a:srgbClr val="FF0000"/>
                </a:solidFill>
              </a:rPr>
              <a:t>ignificant </a:t>
            </a:r>
            <a:r>
              <a:rPr lang="en-US" b="1" dirty="0" smtClean="0">
                <a:solidFill>
                  <a:srgbClr val="FF0000"/>
                </a:solidFill>
              </a:rPr>
              <a:t>water wastage</a:t>
            </a:r>
            <a:r>
              <a:rPr lang="en-US" b="1" dirty="0" smtClean="0">
                <a:solidFill>
                  <a:srgbClr val="FF0000"/>
                </a:solidFill>
              </a:rPr>
              <a:t>,</a:t>
            </a:r>
          </a:p>
          <a:p>
            <a:r>
              <a:rPr lang="en-US" b="1" dirty="0" smtClean="0">
                <a:solidFill>
                  <a:srgbClr val="FF0000"/>
                </a:solidFill>
              </a:rPr>
              <a:t> </a:t>
            </a:r>
            <a:r>
              <a:rPr lang="en-US" b="1" dirty="0">
                <a:solidFill>
                  <a:srgbClr val="FF0000"/>
                </a:solidFill>
              </a:rPr>
              <a:t>T</a:t>
            </a:r>
            <a:r>
              <a:rPr lang="en-US" b="1" dirty="0" smtClean="0">
                <a:solidFill>
                  <a:srgbClr val="FF0000"/>
                </a:solidFill>
              </a:rPr>
              <a:t>he </a:t>
            </a:r>
            <a:r>
              <a:rPr lang="en-US" b="1" dirty="0" smtClean="0">
                <a:solidFill>
                  <a:srgbClr val="FF0000"/>
                </a:solidFill>
              </a:rPr>
              <a:t>removal of beneficial minerals, </a:t>
            </a:r>
            <a:endParaRPr lang="en-US" b="1" dirty="0" smtClean="0">
              <a:solidFill>
                <a:srgbClr val="FF0000"/>
              </a:solidFill>
            </a:endParaRPr>
          </a:p>
          <a:p>
            <a:r>
              <a:rPr lang="en-US" b="1" dirty="0" smtClean="0">
                <a:solidFill>
                  <a:srgbClr val="FF0000"/>
                </a:solidFill>
              </a:rPr>
              <a:t> </a:t>
            </a:r>
            <a:r>
              <a:rPr lang="en-US" b="1" dirty="0">
                <a:solidFill>
                  <a:srgbClr val="FF0000"/>
                </a:solidFill>
              </a:rPr>
              <a:t>O</a:t>
            </a:r>
            <a:r>
              <a:rPr lang="en-US" b="1" dirty="0" smtClean="0">
                <a:solidFill>
                  <a:srgbClr val="FF0000"/>
                </a:solidFill>
              </a:rPr>
              <a:t>ngoing </a:t>
            </a:r>
            <a:r>
              <a:rPr lang="en-US" b="1" dirty="0" smtClean="0">
                <a:solidFill>
                  <a:srgbClr val="FF0000"/>
                </a:solidFill>
              </a:rPr>
              <a:t>maintenance costs. </a:t>
            </a:r>
            <a:endParaRPr lang="en-IN" b="1" dirty="0">
              <a:solidFill>
                <a:srgbClr val="FF0000"/>
              </a:solidFill>
            </a:endParaRPr>
          </a:p>
        </p:txBody>
      </p:sp>
    </p:spTree>
    <p:extLst>
      <p:ext uri="{BB962C8B-B14F-4D97-AF65-F5344CB8AC3E}">
        <p14:creationId xmlns:p14="http://schemas.microsoft.com/office/powerpoint/2010/main" val="396824720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Hardness removal </a:t>
            </a:r>
            <a:endParaRPr lang="en-IN" dirty="0"/>
          </a:p>
        </p:txBody>
      </p:sp>
      <p:sp>
        <p:nvSpPr>
          <p:cNvPr id="3" name="Content Placeholder 2"/>
          <p:cNvSpPr>
            <a:spLocks noGrp="1"/>
          </p:cNvSpPr>
          <p:nvPr>
            <p:ph idx="1"/>
          </p:nvPr>
        </p:nvSpPr>
        <p:spPr/>
        <p:txBody>
          <a:bodyPr>
            <a:normAutofit/>
          </a:bodyPr>
          <a:lstStyle/>
          <a:p>
            <a:r>
              <a:rPr lang="en-US" dirty="0" smtClean="0"/>
              <a:t>Ion exchange removes water hardness by replacing hardness-causing ions, like calcium and magnesium, with other ions, typically sodium, as water passes through a resin bed. </a:t>
            </a:r>
            <a:endParaRPr lang="en-IN" dirty="0"/>
          </a:p>
        </p:txBody>
      </p:sp>
    </p:spTree>
    <p:extLst>
      <p:ext uri="{BB962C8B-B14F-4D97-AF65-F5344CB8AC3E}">
        <p14:creationId xmlns:p14="http://schemas.microsoft.com/office/powerpoint/2010/main" val="134109528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Hardness removing resins</a:t>
            </a:r>
            <a:endParaRPr lang="en-IN" dirty="0"/>
          </a:p>
        </p:txBody>
      </p:sp>
      <p:pic>
        <p:nvPicPr>
          <p:cNvPr id="4" name="Content Placeholder 3" descr="C:\Users\user\Desktop\backup  12-06-25\Desktop\download (3).jpe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14400" y="1752600"/>
            <a:ext cx="7391400" cy="4419600"/>
          </a:xfrm>
          <a:prstGeom prst="rect">
            <a:avLst/>
          </a:prstGeom>
          <a:noFill/>
          <a:ln>
            <a:noFill/>
          </a:ln>
        </p:spPr>
      </p:pic>
    </p:spTree>
    <p:extLst>
      <p:ext uri="{BB962C8B-B14F-4D97-AF65-F5344CB8AC3E}">
        <p14:creationId xmlns:p14="http://schemas.microsoft.com/office/powerpoint/2010/main" val="137203109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33752" y="813562"/>
            <a:ext cx="5478780" cy="696595"/>
          </a:xfrm>
          <a:prstGeom prst="rect">
            <a:avLst/>
          </a:prstGeom>
        </p:spPr>
        <p:txBody>
          <a:bodyPr vert="horz" wrap="square" lIns="0" tIns="13335" rIns="0" bIns="0" rtlCol="0">
            <a:spAutoFit/>
          </a:bodyPr>
          <a:lstStyle/>
          <a:p>
            <a:pPr marL="12700">
              <a:lnSpc>
                <a:spcPct val="100000"/>
              </a:lnSpc>
              <a:spcBef>
                <a:spcPts val="105"/>
              </a:spcBef>
            </a:pPr>
            <a:r>
              <a:rPr dirty="0"/>
              <a:t>HARNESS</a:t>
            </a:r>
            <a:r>
              <a:rPr spc="-65" dirty="0"/>
              <a:t> </a:t>
            </a:r>
            <a:r>
              <a:rPr dirty="0"/>
              <a:t>REMOVAL</a:t>
            </a:r>
          </a:p>
        </p:txBody>
      </p:sp>
      <p:sp>
        <p:nvSpPr>
          <p:cNvPr id="3" name="object 3"/>
          <p:cNvSpPr/>
          <p:nvPr/>
        </p:nvSpPr>
        <p:spPr>
          <a:xfrm>
            <a:off x="914400" y="1676400"/>
            <a:ext cx="7010400" cy="5029200"/>
          </a:xfrm>
          <a:prstGeom prst="rect">
            <a:avLst/>
          </a:prstGeom>
          <a:blipFill>
            <a:blip r:embed="rId2" cstate="print"/>
            <a:stretch>
              <a:fillRect/>
            </a:stretch>
          </a:blipFill>
        </p:spPr>
        <p:txBody>
          <a:bodyPr wrap="square" lIns="0" tIns="0" rIns="0" bIns="0" rtlCol="0"/>
          <a:lstStyle/>
          <a:p>
            <a:endParaRPr dirty="0"/>
          </a:p>
        </p:txBody>
      </p:sp>
    </p:spTree>
    <p:extLst>
      <p:ext uri="{BB962C8B-B14F-4D97-AF65-F5344CB8AC3E}">
        <p14:creationId xmlns:p14="http://schemas.microsoft.com/office/powerpoint/2010/main" val="80672758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Chemical reaction </a:t>
            </a:r>
            <a:endParaRPr lang="en-IN" dirty="0"/>
          </a:p>
        </p:txBody>
      </p:sp>
      <p:pic>
        <p:nvPicPr>
          <p:cNvPr id="1229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 y="1752600"/>
            <a:ext cx="8534400" cy="2393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9364435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ReGeneration</a:t>
            </a:r>
            <a:r>
              <a:rPr lang="en-US" dirty="0" smtClean="0"/>
              <a:t> of the resin</a:t>
            </a:r>
            <a:endParaRPr lang="en-IN" dirty="0"/>
          </a:p>
        </p:txBody>
      </p:sp>
      <p:sp>
        <p:nvSpPr>
          <p:cNvPr id="3" name="Content Placeholder 2"/>
          <p:cNvSpPr>
            <a:spLocks noGrp="1"/>
          </p:cNvSpPr>
          <p:nvPr>
            <p:ph idx="1"/>
          </p:nvPr>
        </p:nvSpPr>
        <p:spPr/>
        <p:txBody>
          <a:bodyPr/>
          <a:lstStyle/>
          <a:p>
            <a:r>
              <a:rPr lang="en-US" dirty="0" smtClean="0"/>
              <a:t>This is achieved by treating the spent resin with a chemical regenerate solution, such as a strong acid for </a:t>
            </a:r>
            <a:r>
              <a:rPr lang="en-US" dirty="0" err="1" smtClean="0"/>
              <a:t>cation</a:t>
            </a:r>
            <a:r>
              <a:rPr lang="en-US" dirty="0" smtClean="0"/>
              <a:t> resins (e.g., </a:t>
            </a:r>
            <a:r>
              <a:rPr lang="en-US" dirty="0" err="1" smtClean="0"/>
              <a:t>HCl</a:t>
            </a:r>
            <a:r>
              <a:rPr lang="en-US" dirty="0" smtClean="0"/>
              <a:t>) and a strong base for anion resins (e.g., </a:t>
            </a:r>
            <a:r>
              <a:rPr lang="en-US" dirty="0" err="1" smtClean="0"/>
              <a:t>NaOH</a:t>
            </a:r>
            <a:r>
              <a:rPr lang="en-US" dirty="0" smtClean="0"/>
              <a:t>). After the regeneration, the resin is typically rinsed thoroughly and can be reused for many cycles</a:t>
            </a:r>
            <a:endParaRPr lang="en-IN" dirty="0"/>
          </a:p>
        </p:txBody>
      </p:sp>
    </p:spTree>
    <p:extLst>
      <p:ext uri="{BB962C8B-B14F-4D97-AF65-F5344CB8AC3E}">
        <p14:creationId xmlns:p14="http://schemas.microsoft.com/office/powerpoint/2010/main" val="427840148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Simple filters </a:t>
            </a:r>
          </a:p>
        </p:txBody>
      </p:sp>
      <p:sp>
        <p:nvSpPr>
          <p:cNvPr id="3" name="Subtitle 2"/>
          <p:cNvSpPr>
            <a:spLocks noGrp="1"/>
          </p:cNvSpPr>
          <p:nvPr>
            <p:ph type="subTitle" idx="1"/>
          </p:nvPr>
        </p:nvSpPr>
        <p:spPr/>
        <p:txBody>
          <a:bodyPr/>
          <a:lstStyle/>
          <a:p>
            <a:r>
              <a:rPr lang="en-US" dirty="0"/>
              <a:t>Activated carbon, sand filter</a:t>
            </a:r>
          </a:p>
        </p:txBody>
      </p:sp>
    </p:spTree>
    <p:extLst>
      <p:ext uri="{BB962C8B-B14F-4D97-AF65-F5344CB8AC3E}">
        <p14:creationId xmlns:p14="http://schemas.microsoft.com/office/powerpoint/2010/main" val="165005469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54271" y="432257"/>
            <a:ext cx="1238250" cy="697230"/>
          </a:xfrm>
          <a:prstGeom prst="rect">
            <a:avLst/>
          </a:prstGeom>
        </p:spPr>
        <p:txBody>
          <a:bodyPr vert="horz" wrap="square" lIns="0" tIns="13335" rIns="0" bIns="0" rtlCol="0">
            <a:spAutoFit/>
          </a:bodyPr>
          <a:lstStyle/>
          <a:p>
            <a:pPr marL="12700">
              <a:lnSpc>
                <a:spcPct val="100000"/>
              </a:lnSpc>
              <a:spcBef>
                <a:spcPts val="105"/>
              </a:spcBef>
            </a:pPr>
            <a:r>
              <a:rPr dirty="0"/>
              <a:t>Filter</a:t>
            </a:r>
          </a:p>
        </p:txBody>
      </p:sp>
      <p:sp>
        <p:nvSpPr>
          <p:cNvPr id="3" name="object 3"/>
          <p:cNvSpPr/>
          <p:nvPr/>
        </p:nvSpPr>
        <p:spPr>
          <a:xfrm>
            <a:off x="152400" y="1219200"/>
            <a:ext cx="8839200" cy="5486400"/>
          </a:xfrm>
          <a:prstGeom prst="rect">
            <a:avLst/>
          </a:prstGeom>
          <a:blipFill>
            <a:blip r:embed="rId2" cstate="print"/>
            <a:stretch>
              <a:fillRect/>
            </a:stretch>
          </a:blipFill>
        </p:spPr>
        <p:txBody>
          <a:bodyPr wrap="square" lIns="0" tIns="0" rIns="0" bIns="0" rtlCol="0"/>
          <a:lstStyle/>
          <a:p>
            <a:endParaRPr dirty="0"/>
          </a:p>
        </p:txBody>
      </p:sp>
    </p:spTree>
    <p:extLst>
      <p:ext uri="{BB962C8B-B14F-4D97-AF65-F5344CB8AC3E}">
        <p14:creationId xmlns:p14="http://schemas.microsoft.com/office/powerpoint/2010/main" val="21783152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09600" y="381000"/>
            <a:ext cx="8229600" cy="5410200"/>
          </a:xfrm>
          <a:prstGeom prst="rect">
            <a:avLst/>
          </a:prstGeom>
          <a:blipFill>
            <a:blip r:embed="rId2" cstate="print"/>
            <a:stretch>
              <a:fillRect/>
            </a:stretch>
          </a:blipFill>
        </p:spPr>
        <p:txBody>
          <a:bodyPr wrap="square" lIns="0" tIns="0" rIns="0" bIns="0" rtlCol="0"/>
          <a:lstStyle/>
          <a:p>
            <a:endParaRPr dirty="0"/>
          </a:p>
        </p:txBody>
      </p:sp>
    </p:spTree>
    <p:extLst>
      <p:ext uri="{BB962C8B-B14F-4D97-AF65-F5344CB8AC3E}">
        <p14:creationId xmlns:p14="http://schemas.microsoft.com/office/powerpoint/2010/main" val="162511987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54271" y="813562"/>
            <a:ext cx="1237615" cy="696595"/>
          </a:xfrm>
          <a:prstGeom prst="rect">
            <a:avLst/>
          </a:prstGeom>
        </p:spPr>
        <p:txBody>
          <a:bodyPr vert="horz" wrap="square" lIns="0" tIns="13335" rIns="0" bIns="0" rtlCol="0">
            <a:spAutoFit/>
          </a:bodyPr>
          <a:lstStyle/>
          <a:p>
            <a:pPr marL="12700">
              <a:lnSpc>
                <a:spcPct val="100000"/>
              </a:lnSpc>
              <a:spcBef>
                <a:spcPts val="105"/>
              </a:spcBef>
            </a:pPr>
            <a:r>
              <a:rPr dirty="0"/>
              <a:t>Filter</a:t>
            </a:r>
          </a:p>
        </p:txBody>
      </p:sp>
      <p:grpSp>
        <p:nvGrpSpPr>
          <p:cNvPr id="3" name="object 3"/>
          <p:cNvGrpSpPr/>
          <p:nvPr/>
        </p:nvGrpSpPr>
        <p:grpSpPr>
          <a:xfrm>
            <a:off x="415925" y="2862326"/>
            <a:ext cx="5568950" cy="3580129"/>
            <a:chOff x="415925" y="2862326"/>
            <a:chExt cx="5568950" cy="3580129"/>
          </a:xfrm>
        </p:grpSpPr>
        <p:sp>
          <p:nvSpPr>
            <p:cNvPr id="4" name="object 4"/>
            <p:cNvSpPr/>
            <p:nvPr/>
          </p:nvSpPr>
          <p:spPr>
            <a:xfrm>
              <a:off x="457200" y="2903601"/>
              <a:ext cx="5486400" cy="3497199"/>
            </a:xfrm>
            <a:prstGeom prst="rect">
              <a:avLst/>
            </a:prstGeom>
            <a:blipFill>
              <a:blip r:embed="rId2" cstate="print"/>
              <a:stretch>
                <a:fillRect/>
              </a:stretch>
            </a:blipFill>
          </p:spPr>
          <p:txBody>
            <a:bodyPr wrap="square" lIns="0" tIns="0" rIns="0" bIns="0" rtlCol="0"/>
            <a:lstStyle/>
            <a:p>
              <a:endParaRPr dirty="0"/>
            </a:p>
          </p:txBody>
        </p:sp>
        <p:sp>
          <p:nvSpPr>
            <p:cNvPr id="5" name="object 5"/>
            <p:cNvSpPr/>
            <p:nvPr/>
          </p:nvSpPr>
          <p:spPr>
            <a:xfrm>
              <a:off x="436562" y="2882963"/>
              <a:ext cx="5527675" cy="3538854"/>
            </a:xfrm>
            <a:custGeom>
              <a:avLst/>
              <a:gdLst/>
              <a:ahLst/>
              <a:cxnLst/>
              <a:rect l="l" t="t" r="r" b="b"/>
              <a:pathLst>
                <a:path w="5527675" h="3538854">
                  <a:moveTo>
                    <a:pt x="0" y="3538474"/>
                  </a:moveTo>
                  <a:lnTo>
                    <a:pt x="5527675" y="3538474"/>
                  </a:lnTo>
                  <a:lnTo>
                    <a:pt x="5527675" y="0"/>
                  </a:lnTo>
                  <a:lnTo>
                    <a:pt x="0" y="0"/>
                  </a:lnTo>
                  <a:lnTo>
                    <a:pt x="0" y="3538474"/>
                  </a:lnTo>
                  <a:close/>
                </a:path>
              </a:pathLst>
            </a:custGeom>
            <a:ln w="41275">
              <a:solidFill>
                <a:srgbClr val="000000"/>
              </a:solidFill>
            </a:ln>
          </p:spPr>
          <p:txBody>
            <a:bodyPr wrap="square" lIns="0" tIns="0" rIns="0" bIns="0" rtlCol="0"/>
            <a:lstStyle/>
            <a:p>
              <a:endParaRPr dirty="0"/>
            </a:p>
          </p:txBody>
        </p:sp>
      </p:grpSp>
      <p:sp>
        <p:nvSpPr>
          <p:cNvPr id="6" name="object 6"/>
          <p:cNvSpPr/>
          <p:nvPr/>
        </p:nvSpPr>
        <p:spPr>
          <a:xfrm>
            <a:off x="6324600" y="1905000"/>
            <a:ext cx="2590800" cy="2895600"/>
          </a:xfrm>
          <a:prstGeom prst="rect">
            <a:avLst/>
          </a:prstGeom>
          <a:blipFill>
            <a:blip r:embed="rId3" cstate="print"/>
            <a:stretch>
              <a:fillRect/>
            </a:stretch>
          </a:blipFill>
        </p:spPr>
        <p:txBody>
          <a:bodyPr wrap="square" lIns="0" tIns="0" rIns="0" bIns="0" rtlCol="0"/>
          <a:lstStyle/>
          <a:p>
            <a:endParaRPr dirty="0"/>
          </a:p>
        </p:txBody>
      </p:sp>
    </p:spTree>
    <p:extLst>
      <p:ext uri="{BB962C8B-B14F-4D97-AF65-F5344CB8AC3E}">
        <p14:creationId xmlns:p14="http://schemas.microsoft.com/office/powerpoint/2010/main" val="156521429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221742"/>
            <a:ext cx="7159625" cy="1305560"/>
          </a:xfrm>
          <a:prstGeom prst="rect">
            <a:avLst/>
          </a:prstGeom>
        </p:spPr>
        <p:txBody>
          <a:bodyPr vert="horz" wrap="square" lIns="0" tIns="12065" rIns="0" bIns="0" rtlCol="0">
            <a:spAutoFit/>
          </a:bodyPr>
          <a:lstStyle/>
          <a:p>
            <a:pPr marL="12700" marR="5080" algn="ctr">
              <a:lnSpc>
                <a:spcPct val="100000"/>
              </a:lnSpc>
              <a:spcBef>
                <a:spcPts val="95"/>
              </a:spcBef>
            </a:pPr>
            <a:r>
              <a:rPr sz="2800" b="1" spc="-5" dirty="0">
                <a:latin typeface="Times New Roman"/>
                <a:cs typeface="Times New Roman"/>
              </a:rPr>
              <a:t>COMMERCIAL EQUIPMENT FOR </a:t>
            </a:r>
            <a:r>
              <a:rPr sz="2800" b="1" spc="-10" dirty="0">
                <a:latin typeface="Times New Roman"/>
                <a:cs typeface="Times New Roman"/>
              </a:rPr>
              <a:t>WATER  </a:t>
            </a:r>
            <a:r>
              <a:rPr sz="2800" b="1" spc="-5" dirty="0">
                <a:latin typeface="Times New Roman"/>
                <a:cs typeface="Times New Roman"/>
              </a:rPr>
              <a:t>QUALITY</a:t>
            </a:r>
            <a:endParaRPr sz="2800" dirty="0">
              <a:latin typeface="Times New Roman"/>
              <a:cs typeface="Times New Roman"/>
            </a:endParaRPr>
          </a:p>
          <a:p>
            <a:pPr algn="ctr">
              <a:lnSpc>
                <a:spcPct val="100000"/>
              </a:lnSpc>
            </a:pPr>
            <a:r>
              <a:rPr sz="2800" b="1" spc="-5" dirty="0">
                <a:latin typeface="Times New Roman"/>
                <a:cs typeface="Times New Roman"/>
              </a:rPr>
              <a:t>ISSUES</a:t>
            </a:r>
            <a:endParaRPr sz="2800" dirty="0">
              <a:latin typeface="Times New Roman"/>
              <a:cs typeface="Times New Roman"/>
            </a:endParaRPr>
          </a:p>
        </p:txBody>
      </p:sp>
      <p:sp>
        <p:nvSpPr>
          <p:cNvPr id="3" name="object 3"/>
          <p:cNvSpPr txBox="1"/>
          <p:nvPr/>
        </p:nvSpPr>
        <p:spPr>
          <a:xfrm>
            <a:off x="1017219" y="1481542"/>
            <a:ext cx="7312025" cy="830580"/>
          </a:xfrm>
          <a:prstGeom prst="rect">
            <a:avLst/>
          </a:prstGeom>
        </p:spPr>
        <p:txBody>
          <a:bodyPr vert="horz" wrap="square" lIns="0" tIns="48895" rIns="0" bIns="0" rtlCol="0">
            <a:spAutoFit/>
          </a:bodyPr>
          <a:lstStyle/>
          <a:p>
            <a:pPr marL="355600" indent="-343535">
              <a:lnSpc>
                <a:spcPct val="100000"/>
              </a:lnSpc>
              <a:spcBef>
                <a:spcPts val="385"/>
              </a:spcBef>
              <a:buChar char="•"/>
              <a:tabLst>
                <a:tab pos="354965" algn="l"/>
                <a:tab pos="356235" algn="l"/>
              </a:tabLst>
            </a:pPr>
            <a:r>
              <a:rPr sz="2400" spc="-5" dirty="0">
                <a:latin typeface="Times New Roman"/>
                <a:cs typeface="Times New Roman"/>
              </a:rPr>
              <a:t>Different </a:t>
            </a:r>
            <a:r>
              <a:rPr sz="2400" dirty="0">
                <a:latin typeface="Times New Roman"/>
                <a:cs typeface="Times New Roman"/>
              </a:rPr>
              <a:t>types of </a:t>
            </a:r>
            <a:r>
              <a:rPr sz="2400" spc="-5" dirty="0">
                <a:latin typeface="Times New Roman"/>
                <a:cs typeface="Times New Roman"/>
              </a:rPr>
              <a:t>equipments </a:t>
            </a:r>
            <a:r>
              <a:rPr sz="2400" dirty="0">
                <a:latin typeface="Times New Roman"/>
                <a:cs typeface="Times New Roman"/>
              </a:rPr>
              <a:t>are available in the</a:t>
            </a:r>
            <a:r>
              <a:rPr sz="2400" spc="-105" dirty="0">
                <a:latin typeface="Times New Roman"/>
                <a:cs typeface="Times New Roman"/>
              </a:rPr>
              <a:t> </a:t>
            </a:r>
            <a:r>
              <a:rPr sz="2400" spc="-5" dirty="0">
                <a:latin typeface="Times New Roman"/>
                <a:cs typeface="Times New Roman"/>
              </a:rPr>
              <a:t>market</a:t>
            </a:r>
            <a:endParaRPr sz="2400" dirty="0">
              <a:latin typeface="Times New Roman"/>
              <a:cs typeface="Times New Roman"/>
            </a:endParaRPr>
          </a:p>
          <a:p>
            <a:pPr marL="355600" indent="-343535">
              <a:lnSpc>
                <a:spcPct val="100000"/>
              </a:lnSpc>
              <a:spcBef>
                <a:spcPts val="290"/>
              </a:spcBef>
              <a:buChar char="•"/>
              <a:tabLst>
                <a:tab pos="354965" algn="l"/>
                <a:tab pos="356235" algn="l"/>
              </a:tabLst>
            </a:pPr>
            <a:r>
              <a:rPr sz="2400" spc="-10" dirty="0">
                <a:latin typeface="Times New Roman"/>
                <a:cs typeface="Times New Roman"/>
              </a:rPr>
              <a:t>Some </a:t>
            </a:r>
            <a:r>
              <a:rPr sz="2400" dirty="0">
                <a:latin typeface="Times New Roman"/>
                <a:cs typeface="Times New Roman"/>
              </a:rPr>
              <a:t>of these are given</a:t>
            </a:r>
            <a:r>
              <a:rPr sz="2400" spc="-30" dirty="0">
                <a:latin typeface="Times New Roman"/>
                <a:cs typeface="Times New Roman"/>
              </a:rPr>
              <a:t> </a:t>
            </a:r>
            <a:r>
              <a:rPr sz="2400" dirty="0">
                <a:latin typeface="Times New Roman"/>
                <a:cs typeface="Times New Roman"/>
              </a:rPr>
              <a:t>below</a:t>
            </a:r>
          </a:p>
        </p:txBody>
      </p:sp>
      <p:sp>
        <p:nvSpPr>
          <p:cNvPr id="4" name="object 4"/>
          <p:cNvSpPr txBox="1"/>
          <p:nvPr/>
        </p:nvSpPr>
        <p:spPr>
          <a:xfrm>
            <a:off x="1017219" y="5944616"/>
            <a:ext cx="3227705" cy="720725"/>
          </a:xfrm>
          <a:prstGeom prst="rect">
            <a:avLst/>
          </a:prstGeom>
        </p:spPr>
        <p:txBody>
          <a:bodyPr vert="horz" wrap="square" lIns="0" tIns="53975" rIns="0" bIns="0" rtlCol="0">
            <a:spAutoFit/>
          </a:bodyPr>
          <a:lstStyle/>
          <a:p>
            <a:pPr marL="12700" marR="5080" indent="1600200">
              <a:lnSpc>
                <a:spcPts val="2590"/>
              </a:lnSpc>
              <a:spcBef>
                <a:spcPts val="425"/>
              </a:spcBef>
            </a:pPr>
            <a:r>
              <a:rPr sz="2400" spc="-10" dirty="0">
                <a:latin typeface="Times New Roman"/>
                <a:cs typeface="Times New Roman"/>
              </a:rPr>
              <a:t>Pygmy</a:t>
            </a:r>
            <a:r>
              <a:rPr sz="2400" spc="-50" dirty="0">
                <a:latin typeface="Times New Roman"/>
                <a:cs typeface="Times New Roman"/>
              </a:rPr>
              <a:t> </a:t>
            </a:r>
            <a:r>
              <a:rPr sz="2400" dirty="0">
                <a:latin typeface="Times New Roman"/>
                <a:cs typeface="Times New Roman"/>
              </a:rPr>
              <a:t>Filter  Pr. Sand</a:t>
            </a:r>
            <a:r>
              <a:rPr sz="2400" spc="-10" dirty="0">
                <a:latin typeface="Times New Roman"/>
                <a:cs typeface="Times New Roman"/>
              </a:rPr>
              <a:t> </a:t>
            </a:r>
            <a:r>
              <a:rPr sz="2400" dirty="0">
                <a:latin typeface="Times New Roman"/>
                <a:cs typeface="Times New Roman"/>
              </a:rPr>
              <a:t>Filter</a:t>
            </a:r>
          </a:p>
        </p:txBody>
      </p:sp>
      <p:sp>
        <p:nvSpPr>
          <p:cNvPr id="5" name="object 5"/>
          <p:cNvSpPr/>
          <p:nvPr/>
        </p:nvSpPr>
        <p:spPr>
          <a:xfrm>
            <a:off x="1044575" y="2530500"/>
            <a:ext cx="3824209" cy="3516287"/>
          </a:xfrm>
          <a:prstGeom prst="rect">
            <a:avLst/>
          </a:prstGeom>
          <a:blipFill>
            <a:blip r:embed="rId2" cstate="print"/>
            <a:stretch>
              <a:fillRect/>
            </a:stretch>
          </a:blipFill>
        </p:spPr>
        <p:txBody>
          <a:bodyPr wrap="square" lIns="0" tIns="0" rIns="0" bIns="0" rtlCol="0"/>
          <a:lstStyle/>
          <a:p>
            <a:endParaRPr dirty="0"/>
          </a:p>
        </p:txBody>
      </p:sp>
      <p:sp>
        <p:nvSpPr>
          <p:cNvPr id="6" name="object 6"/>
          <p:cNvSpPr/>
          <p:nvPr/>
        </p:nvSpPr>
        <p:spPr>
          <a:xfrm>
            <a:off x="5071998" y="2530480"/>
            <a:ext cx="3681557" cy="3515879"/>
          </a:xfrm>
          <a:prstGeom prst="rect">
            <a:avLst/>
          </a:prstGeom>
          <a:blipFill>
            <a:blip r:embed="rId3" cstate="print"/>
            <a:stretch>
              <a:fillRect/>
            </a:stretch>
          </a:blipFill>
        </p:spPr>
        <p:txBody>
          <a:bodyPr wrap="square" lIns="0" tIns="0" rIns="0" bIns="0" rtlCol="0"/>
          <a:lstStyle/>
          <a:p>
            <a:endParaRPr dirty="0"/>
          </a:p>
        </p:txBody>
      </p:sp>
      <p:sp>
        <p:nvSpPr>
          <p:cNvPr id="7" name="object 7"/>
          <p:cNvSpPr txBox="1"/>
          <p:nvPr/>
        </p:nvSpPr>
        <p:spPr>
          <a:xfrm>
            <a:off x="8174228" y="6276543"/>
            <a:ext cx="205740" cy="239395"/>
          </a:xfrm>
          <a:prstGeom prst="rect">
            <a:avLst/>
          </a:prstGeom>
        </p:spPr>
        <p:txBody>
          <a:bodyPr vert="horz" wrap="square" lIns="0" tIns="12700" rIns="0" bIns="0" rtlCol="0">
            <a:spAutoFit/>
          </a:bodyPr>
          <a:lstStyle/>
          <a:p>
            <a:pPr marL="12700">
              <a:lnSpc>
                <a:spcPct val="100000"/>
              </a:lnSpc>
              <a:spcBef>
                <a:spcPts val="100"/>
              </a:spcBef>
            </a:pPr>
            <a:r>
              <a:rPr sz="1400" spc="5" dirty="0">
                <a:latin typeface="Times New Roman"/>
                <a:cs typeface="Times New Roman"/>
              </a:rPr>
              <a:t>50</a:t>
            </a:r>
            <a:endParaRPr sz="1400" dirty="0">
              <a:latin typeface="Times New Roman"/>
              <a:cs typeface="Times New Roman"/>
            </a:endParaRPr>
          </a:p>
        </p:txBody>
      </p:sp>
    </p:spTree>
    <p:extLst>
      <p:ext uri="{BB962C8B-B14F-4D97-AF65-F5344CB8AC3E}">
        <p14:creationId xmlns:p14="http://schemas.microsoft.com/office/powerpoint/2010/main" val="58628936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Hardness removal</a:t>
            </a:r>
          </a:p>
        </p:txBody>
      </p:sp>
      <p:pic>
        <p:nvPicPr>
          <p:cNvPr id="921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90600" y="1676400"/>
            <a:ext cx="6248400"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6189125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579</TotalTime>
  <Words>591</Words>
  <Application>Microsoft Office PowerPoint</Application>
  <PresentationFormat>On-screen Show (4:3)</PresentationFormat>
  <Paragraphs>84</Paragraphs>
  <Slides>32</Slides>
  <Notes>0</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Office Theme</vt:lpstr>
      <vt:lpstr>Commercial water treatment</vt:lpstr>
      <vt:lpstr>COMMERCAL QUIPMENTS FOR WATER  TREATMENT </vt:lpstr>
      <vt:lpstr>Various equipment are</vt:lpstr>
      <vt:lpstr>UV filters are a type of water filtration system that use ultraviolet light to purify water. They are commonly used in households, as well as in industrial and commercia settings to remove harmful microorganisms from the water supply.</vt:lpstr>
      <vt:lpstr>Sand filter</vt:lpstr>
      <vt:lpstr>Sand fiter </vt:lpstr>
      <vt:lpstr>PowerPoint Presentation</vt:lpstr>
      <vt:lpstr>Anthracite</vt:lpstr>
      <vt:lpstr>Activated carbon filter </vt:lpstr>
      <vt:lpstr>Activated carbon filter cont. </vt:lpstr>
      <vt:lpstr>Activated carbon filter contd </vt:lpstr>
      <vt:lpstr>Activated carbon filter </vt:lpstr>
      <vt:lpstr>Iron remval medias </vt:lpstr>
      <vt:lpstr>PowerPoint Presentation</vt:lpstr>
      <vt:lpstr>PowerPoint Presentation</vt:lpstr>
      <vt:lpstr>Properties of iron removal media and the process  </vt:lpstr>
      <vt:lpstr>Reverse osmosis </vt:lpstr>
      <vt:lpstr>Reverse osmosis</vt:lpstr>
      <vt:lpstr>Reverse Osmosis </vt:lpstr>
      <vt:lpstr>RO filter </vt:lpstr>
      <vt:lpstr>Major demerits of reverse osmosis </vt:lpstr>
      <vt:lpstr>Hardness removal </vt:lpstr>
      <vt:lpstr>Hardness removing resins</vt:lpstr>
      <vt:lpstr>HARNESS REMOVAL</vt:lpstr>
      <vt:lpstr>Chemical reaction </vt:lpstr>
      <vt:lpstr>ReGeneration of the resin</vt:lpstr>
      <vt:lpstr>Simple filters </vt:lpstr>
      <vt:lpstr>Filter</vt:lpstr>
      <vt:lpstr>PowerPoint Presentation</vt:lpstr>
      <vt:lpstr>Filter</vt:lpstr>
      <vt:lpstr>COMMERCIAL EQUIPMENT FOR WATER  QUALITY ISSUES</vt:lpstr>
      <vt:lpstr>Hardness removal</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19</cp:revision>
  <dcterms:created xsi:type="dcterms:W3CDTF">2025-11-22T23:42:26Z</dcterms:created>
  <dcterms:modified xsi:type="dcterms:W3CDTF">2026-01-07T22:41:56Z</dcterms:modified>
</cp:coreProperties>
</file>